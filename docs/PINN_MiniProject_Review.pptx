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BEA016-E11D-7FBB-13A0-EB66BC0FBE48}">
          <p14:sldIdLst>
            <p14:sldId id="256"/>
            <p14:sldId id="258"/>
          </p14:sldIdLst>
        </p14:section>
        <p14:section name="Background" id="{A8E16FCC-1C93-C06A-9CD2-C3264DF80F25}">
          <p14:sldIdLst>
            <p14:sldId id="259"/>
            <p14:sldId id="260"/>
            <p14:sldId id="261"/>
          </p14:sldIdLst>
        </p14:section>
        <p14:section name="Part 1" id="{59164D6D-9569-0DB4-1E11-CB2D70AA3FD0}">
          <p14:sldIdLst>
            <p14:sldId id="262"/>
            <p14:sldId id="263"/>
            <p14:sldId id="264"/>
          </p14:sldIdLst>
        </p14:section>
        <p14:section name="Part 2" id="{330AAD51-187C-A84E-D6E4-449DF81344AF}">
          <p14:sldIdLst>
            <p14:sldId id="265"/>
            <p14:sldId id="266"/>
            <p14:sldId id="267"/>
            <p14:sldId id="268"/>
          </p14:sldIdLst>
        </p14:section>
        <p14:section name="Demo and close" id="{93907672-FFFA-EEBA-F3D3-E4C484CBC345}">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1300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0:15]
Good morning. We are Team [team number], and our assigned problem statement is number 13: the Stanford CS229 report "Data Driven Solutions and Discoveries in Mechanics Using Physics-Informed Neural Networks" by Zhang, Chen and Yang.
In one line: we rebuilt all three experiments from that paper from scratch, and then implemented and tested two improvements that the authors themselves suggested but never tried.
Emphasis: Say the one-line summary clearly. It tells the panel exactly what to expect.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0:10]
We start with the problem and a short explanation of physics-informed neural networks, then the paper and our implementation. After that, our Part 1 results, the two gaps we found, our two fixes, a live demo, and conclusions.
Emphasis: Do not read all ten items. One sentence is enough.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0:35]
The paper asks a simple question: can a neural network solve physics problems without a mesh and without a labelled dataset, and can it even discover unknown physical parameters?
It tests this on three mechanics problems. We are given the governing equations and their boundary and initial conditions, and for one problem only 50 measurements. We have to find the full solution everywhere, and for the spring problem, the unknown damping c and stiffness k.
This is hard for both classical and ordinary ML tools. Finite element solvers need a mesh and cannot easily recover unknown parameters. A normal neural network would need a large labelled dataset, which we do not have.
Our goal was to reproduce all three results faithfully, and then test whether the improvements the authors suggested actually help.
Emphasis: Stress 'no mesh' and 'no labelled dataset'. Those are the two ideas everything else builds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0:50]
A PINN is an ordinary fully connected network. It takes x and t as input and outputs the physical quantity, for example the pore pressure p.
What makes it physics-informed is the loss. PyTorch's automatic differentiation gives the exact derivatives of the output with respect to the inputs, such as p_t and p_xx. We substitute those into the equation and get a residual, which should be zero everywhere.
The loss has three parts. L_f is the mean squared residual at random interior points: does the network obey the physics? L_b checks the boundary and initial conditions. L_d checks measured data, when we have any. They are weighted and added, and training drives all three towards zero.
So there is no mesh and no labelled dataset: the equation itself provides the supervision. We use tanh activations rather than ReLU because we need second derivatives, and ReLU's second derivative is zero almost everywhere.
Emphasis: Point at each box of the diagram as you name it. Make sure 'autograd gives exact derivatives' is clear.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0:40]
Problem 1 is soil consolidation. When a load is placed on wet soil, the water pressure inside slowly drains out through the top. It is a diffusion equation. The paper non-dimensionalises it so every quantity is of order one, and multiplies the network output by x, so the drained-top condition p = 0 at x = 0 holds automatically. An exact series solution exists, so we can compare against it.
Problem 2 is steady heat conduction on a square plate with a constant heat source and edges held at zero. There is no closed-form solution, so the paper compares against a finite element solution.
Problem 3 turns the question around. It is a damped spring where we observe 50 displacement values and must discover c and k. The true values are 0.4 and 4, and the paper reports 0.401 and 3.993.
All problems are trained with Adam first and then L-BFGS, with fixed loss weights.
Emphasis: Forward vs inverse is the key distinction. Problems 1 and 2 are forward; problem 3 is inverse.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0:35]
We implemented everything from scratch in PyTorch. The src folder holds the shared pieces: the network, the Adam-then-L-BFGS trainer, the reference solutions and the plotting code. Each experiment is one script, and two runner scripts reproduce everything.
There is no dataset to download. Training points are random locations in each domain, drawn with a fixed seed. For reference answers we use the exact solutions for problems 1 and 3. For heat, we wrote our own finite-difference solver on a 201 by 201 grid and checked that it converges to about 4 times 10 to the minus 6, far smaller than the errors we measure.
We report the relative L2 error on about ten thousand test points, the maximum and boundary errors, the PDE residual on test points, and the identified c and k. Because the seeds are fixed, re-running gives bit-identical numbers, and we verified that twice.
Emphasis: Mention that every paper setting was reproduced, and that results are exactly reproducible.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0:40]
All three results reproduce. Consolidation: 1.3 percent relative error, with the largest error near the origin, exactly as the paper describes. Heat: 0.9 percent error, and the error is largest along the boundary, again as in the paper. Spring: k within 0.24 percent and c within 2.9 percent of the true values.
Small differences from the paper are normal, because the random points and the framework are different, and each one has a known cause. For example, the paper says it forced the temperature to stay positive but never explains how. We did not, which explains part of our larger heat max error.
And c converges more slowly than k. k sets the oscillation frequency, so a wrong k shifts every peak and gives a strong gradient. c only changes how fast the oscillations die out, so its gradient is weaker.
Emphasis: Do not claim an exact match. Say 'reproduced, with small explained differences'.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0:20]
Left: consolidation, with the error concentrated in a thin strip near t = 0. Middle: heat, bright along the edges and in the corners. Right: c and k converging to the dashed true values. k locks in by about 10,000 iterations, while c settles slowly.
These two weak spots, the edges and the early-time strip, are where Part 2 begins. My teammate will now explain how we improved them.
Emphasis: This is the handover. Point at the edges in the heat map and the strip in the consolidation map before handing over.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0:45]
We did not invent these weaknesses; the paper points to both. In section 4.2 it says the largest heat error is near the boundary because the boundary condition is not a hard constraint, and it suggests multiplying the output by a function that vanishes on the boundary. It never implements that.
In its conclusion it suggests a training-point selection strategy similar to adaptive re-meshing. It never implements that either.
Our reproduction measures both problems: a mean boundary error of 3 times 10 to the minus 3 for heat, and a PDE test residual of 18.7 for consolidation, coming from the thin layer near t = 0 where 500 random points are too sparse.
So our novelty is to implement and test both suggestions, keeping the network, seed and training budget identical to Part 1 so the comparison is fair.
Emphasis: This is where the novelty comes from. Say clearly that the ideas come from the paper's own text, and our contribution is implementing, measuring and honestly evaluating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1:00]
Fix 1 builds the boundary condition into the network itself. We multiply the output by (1 minus x squared) times (1 minus y squared). That factor is exactly zero on all four edges, so the temperature is zero on the boundary no matter what the network learns. The boundary loss disappears, and only the physics residual remains.
The results: relative error drops from 0.9 percent to 0.004 percent, about 220 times lower, and the boundary error is exactly zero. On the right, before and after, each on its own colour scale: the soft-BC error sits on the edges, while the hard-BC error is more than 200 times smaller and spread evenly.
Why such a large effect? With a soft boundary condition, two loss terms compete, and L-BFGS stopped after just 14 iterations. With a single loss term, L-BFGS kept improving for 4,019 iterations. Both runs used the same schedule, so the comparison is fair, but the gain comes from an easier optimisation problem, not from the envelope alone.
Emphasis: The '14 versus 4,019 L-BFGS iterations' explanation is what makes this slide strong. Do not say 'the envelope alone made it 220 times better'.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0:45]
Fix 2 changes where the network trains. We use Residual-based Adaptive Refinement, RAR, from the DeepXDE paper, which is reference 24 in our own assigned paper.
Train for 10,000 epochs. Sample 5,000 random candidate points and compute the PDE residual at each. Add the 40 worst to the training set. Repeat 5 times, then finish with L-BFGS. The total budget equals Part 1.
On the right, the red points show where the extra points ended up. RAR packed them along t near zero, exactly the hard region, while the random control spreads them everywhere. After cycle 1 the worst candidate's squared residual was 3,700; after cycle 3 it was only 0.035.
And importantly, we also ran that control: the same schedule and the same 200 extra points, but chosen at random. That separates 'where the points go' from 'how many points there are'.
Emphasis: Cite DeepXDE out loud. Explain the control experiment carefully; it is the most scientific part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0:55]
Three runs on the same machine. Relative error: 1.29 percent for the baseline, 0.84 percent for random points, 0.79 percent for RAR. Maximum error after t = 0: 0.069, 0.060 and 0.032, so RAR roughly halves the worst case compared with random points. PDE test residual: 18.7, 99 for random, and 0.11 for RAR.
In the maps, the bright strip near t = 0 fades with RAR.
The honest reading: the average error improves almost as much with random points, so that part comes from the extra points and the cycled schedule. RAR's own contribution is the worst-case error and the residual in the hard region. Without the control, we would have over-claimed.
One more detail: the loss curves spike every 10,000 iterations. That is when new points are added and Adam restarts, so the loss jumps briefly and then recovers.
Emphasis: Deliver the 'honest reading' sentence slowly. Panels reward this kind of careful claim.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B · 1:30]
Part A presenter: First, the reproduction. This loads the saved heat model and shows the result in seconds, without retraining. [run heat --load --show] Note the errors along the edges.
Now a short live training run of the inverse problem, 5,000 epochs, about half a minute. Watch c and k printed in the terminal moving towards 0.4 and 4. [run spring_inverse --epochs 5000 --show] With only 5,000 epochs it is not fully converged; the full run takes 100,000.
Part B presenter: Now Fix 1. [run heat_improved --load --show] The same problem, the edge errors are gone, and the comparison figure shows the before and after.
And Fix 2. [run consolidation_rar --load --show] Here are the RAR points clustered near t = 0, and the before/after error map.
Emphasis: Before the review: copy the results folder to a backup, because the live spring run overwrites results/spring_inverse. Have the figures open in another window as a fallback.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0:40]
To conclude: we reproduced all three results of the paper, with errors around 1 percent and c and k within 3 percent. The hard boundary condition cut the heat error about 220 times and made the boundary exact. RAR halved the worst-case consolidation error and reduced the residual in the hard region from 18.7 to 0.11, and the control experiment kept our claims honest.
Limitations: we report a single seed, numbers vary slightly between machines, we did not implement the paper's output constraints, and part of the hard-BC gain comes from better L-BFGS convergence.
Next steps would be multi-seed averages, a hard constraint for the consolidation initial condition, and the coupled poromechanics equations the paper names as future work.
Emphasis: End on the one-line takeaway in the bottom box.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0:05]
These are our references. The two most important are the assigned paper and the DeepXDE paper that introduced RAR.
Emphasis: Do not read the list.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0:10]
Thank you. We are happy to take your questions.
Emphasis: Both presenters stand ready for Q&amp;A. Either can answer any question.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ES_FRAM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47472"/>
          </a:xfrm>
          <a:prstGeom prst="rect">
            <a:avLst/>
          </a:prstGeom>
          <a:solidFill>
            <a:schemeClr val="accent1"/>
          </a:solidFill>
          <a:ln w="12700">
            <a:solidFill>
              <a:schemeClr val="accent1"/>
            </a:solidFill>
            <a:prstDash val="solid"/>
          </a:ln>
        </p:spPr>
      </p:sp>
      <p:sp>
        <p:nvSpPr>
          <p:cNvPr id="3" name="Text 1"/>
          <p:cNvSpPr/>
          <p:nvPr/>
        </p:nvSpPr>
        <p:spPr>
          <a:xfrm>
            <a:off x="182880" y="0"/>
            <a:ext cx="7315200" cy="347472"/>
          </a:xfrm>
          <a:prstGeom prst="rect">
            <a:avLst/>
          </a:prstGeom>
          <a:noFill/>
          <a:ln/>
        </p:spPr>
        <p:txBody>
          <a:bodyPr wrap="square" lIns="0" tIns="0" rIns="0" bIns="0" rtlCol="0" anchor="ctr"/>
          <a:lstStyle/>
          <a:p>
            <a:pPr marL="0" indent="0">
              <a:buNone/>
            </a:pPr>
            <a:r>
              <a:rPr lang="en-US" sz="1100" b="1" dirty="0">
                <a:solidFill>
                  <a:schemeClr val="bg1"/>
                </a:solidFill>
              </a:rPr>
              <a:t>Machine Learning Mini-Project  ·  Final Review</a:t>
            </a:r>
            <a:endParaRPr lang="en-US" sz="1100" dirty="0"/>
          </a:p>
        </p:txBody>
      </p:sp>
      <p:pic>
        <p:nvPicPr>
          <p:cNvPr id="4" name="Image 0" descr="/home/claude/deliv/fig/pes_logo.png"/>
          <p:cNvPicPr>
            <a:picLocks noChangeAspect="1"/>
          </p:cNvPicPr>
          <p:nvPr/>
        </p:nvPicPr>
        <p:blipFill>
          <a:blip r:embed="rId2"/>
          <a:stretch>
            <a:fillRect/>
          </a:stretch>
        </p:blipFill>
        <p:spPr>
          <a:xfrm>
            <a:off x="10844784" y="393192"/>
            <a:ext cx="1298448" cy="667512"/>
          </a:xfrm>
          <a:prstGeom prst="rect">
            <a:avLst/>
          </a:prstGeom>
        </p:spPr>
      </p:pic>
      <p:sp>
        <p:nvSpPr>
          <p:cNvPr id="5" name="Shape 2"/>
          <p:cNvSpPr/>
          <p:nvPr/>
        </p:nvSpPr>
        <p:spPr>
          <a:xfrm>
            <a:off x="0" y="6510528"/>
            <a:ext cx="12191695" cy="347472"/>
          </a:xfrm>
          <a:prstGeom prst="rect">
            <a:avLst/>
          </a:prstGeom>
          <a:solidFill>
            <a:schemeClr val="accent1"/>
          </a:solidFill>
          <a:ln w="12700">
            <a:solidFill>
              <a:schemeClr val="accent1"/>
            </a:solidFill>
            <a:prstDash val="solid"/>
          </a:ln>
        </p:spPr>
      </p:sp>
      <p:sp>
        <p:nvSpPr>
          <p:cNvPr id="6" name="Text 3"/>
          <p:cNvSpPr/>
          <p:nvPr/>
        </p:nvSpPr>
        <p:spPr>
          <a:xfrm>
            <a:off x="182880" y="6510528"/>
            <a:ext cx="4114800" cy="347472"/>
          </a:xfrm>
          <a:prstGeom prst="rect">
            <a:avLst/>
          </a:prstGeom>
          <a:noFill/>
          <a:ln/>
        </p:spPr>
        <p:txBody>
          <a:bodyPr wrap="square" lIns="0" tIns="0" rIns="0" bIns="0" rtlCol="0" anchor="ctr"/>
          <a:lstStyle/>
          <a:p>
            <a:pPr marL="0" indent="0">
              <a:buNone/>
            </a:pPr>
            <a:r>
              <a:rPr lang="en-US" sz="1100" b="1" dirty="0">
                <a:solidFill>
                  <a:schemeClr val="bg1"/>
                </a:solidFill>
              </a:rPr>
              <a:t>UE24CS352A · MACHINE LEARNING · 2026</a:t>
            </a:r>
            <a:endParaRPr lang="en-US" sz="1100" dirty="0"/>
          </a:p>
        </p:txBody>
      </p:sp>
      <p:sp>
        <p:nvSpPr>
          <p:cNvPr id="7" name="Text 4"/>
          <p:cNvSpPr/>
          <p:nvPr/>
        </p:nvSpPr>
        <p:spPr>
          <a:xfrm>
            <a:off x="4270248" y="6510528"/>
            <a:ext cx="3657600" cy="347472"/>
          </a:xfrm>
          <a:prstGeom prst="rect">
            <a:avLst/>
          </a:prstGeom>
          <a:noFill/>
          <a:ln/>
        </p:spPr>
        <p:txBody>
          <a:bodyPr wrap="square" lIns="0" tIns="0" rIns="0" bIns="0" rtlCol="0" anchor="ctr"/>
          <a:lstStyle/>
          <a:p>
            <a:pPr marL="0" indent="0" algn="ctr">
              <a:buNone/>
            </a:pPr>
            <a:r>
              <a:rPr lang="en-US" sz="1100" b="1" dirty="0">
                <a:solidFill>
                  <a:schemeClr val="bg1"/>
                </a:solidFill>
              </a:rPr>
              <a:t>MINI-PROJECT · PROBLEM 13</a:t>
            </a:r>
            <a:endParaRPr lang="en-US" sz="1100" dirty="0"/>
          </a:p>
        </p:txBody>
      </p:sp>
      <p:sp>
        <p:nvSpPr>
          <p:cNvPr id="8" name="Text 5"/>
          <p:cNvSpPr/>
          <p:nvPr/>
        </p:nvSpPr>
        <p:spPr>
          <a:xfrm>
            <a:off x="9144000" y="6510528"/>
            <a:ext cx="2103120" cy="347472"/>
          </a:xfrm>
          <a:prstGeom prst="rect">
            <a:avLst/>
          </a:prstGeom>
          <a:noFill/>
          <a:ln/>
        </p:spPr>
        <p:txBody>
          <a:bodyPr wrap="square" lIns="0" tIns="0" rIns="0" bIns="0" rtlCol="0" anchor="ctr"/>
          <a:lstStyle/>
          <a:p>
            <a:pPr marL="0" indent="0" algn="r">
              <a:buNone/>
            </a:pPr>
            <a:r>
              <a:rPr lang="en-US" sz="1100" b="1" dirty="0">
                <a:solidFill>
                  <a:schemeClr val="bg1"/>
                </a:solidFill>
              </a:rPr>
              <a:t>PES UNIVERSITY</a:t>
            </a:r>
            <a:endParaRPr lang="en-US" sz="11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205577E-A2B0-68E3-A7E7-CFF5FC2AEF34}"/>
              </a:ext>
            </a:extLst>
          </p:cNvPr>
          <p:cNvGrpSpPr/>
          <p:nvPr/>
        </p:nvGrpSpPr>
        <p:grpSpPr>
          <a:xfrm>
            <a:off x="457200" y="894810"/>
            <a:ext cx="11274552" cy="2057400"/>
            <a:chOff x="457200" y="1417320"/>
            <a:chExt cx="11274552" cy="2057400"/>
          </a:xfrm>
        </p:grpSpPr>
        <p:sp>
          <p:nvSpPr>
            <p:cNvPr id="3" name="Text 0"/>
            <p:cNvSpPr txBox="1"/>
            <p:nvPr/>
          </p:nvSpPr>
          <p:spPr>
            <a:xfrm>
              <a:off x="457200" y="1417320"/>
              <a:ext cx="11274552" cy="868680"/>
            </a:xfrm>
            <a:prstGeom prst="rect">
              <a:avLst/>
            </a:prstGeom>
            <a:noFill/>
            <a:ln/>
          </p:spPr>
          <p:txBody>
            <a:bodyPr wrap="square" lIns="0" tIns="0" rIns="0" bIns="0" rtlCol="0" anchor="ctr"/>
            <a:lstStyle/>
            <a:p>
              <a:pPr marL="0" indent="0" algn="ctr">
                <a:buNone/>
              </a:pPr>
              <a:r>
                <a:rPr lang="en-US" sz="4800" b="1" dirty="0">
                  <a:solidFill>
                    <a:schemeClr val="tx1"/>
                  </a:solidFill>
                </a:rPr>
                <a:t>Physics-Informed Neural Networks</a:t>
              </a:r>
              <a:endParaRPr lang="en-US" sz="4800" dirty="0"/>
            </a:p>
          </p:txBody>
        </p:sp>
        <p:sp>
          <p:nvSpPr>
            <p:cNvPr id="4" name="Text 1"/>
            <p:cNvSpPr txBox="1"/>
            <p:nvPr/>
          </p:nvSpPr>
          <p:spPr>
            <a:xfrm>
              <a:off x="457200" y="2240280"/>
              <a:ext cx="11274552" cy="777240"/>
            </a:xfrm>
            <a:prstGeom prst="rect">
              <a:avLst/>
            </a:prstGeom>
            <a:noFill/>
            <a:ln/>
          </p:spPr>
          <p:txBody>
            <a:bodyPr wrap="square" lIns="0" tIns="0" rIns="0" bIns="0" rtlCol="0" anchor="ctr"/>
            <a:lstStyle/>
            <a:p>
              <a:pPr marL="0" indent="0" algn="ctr">
                <a:buNone/>
              </a:pPr>
              <a:r>
                <a:rPr lang="en-US" sz="4800" b="1" dirty="0">
                  <a:solidFill>
                    <a:schemeClr val="tx1"/>
                  </a:solidFill>
                </a:rPr>
                <a:t>for Mechanics</a:t>
              </a:r>
              <a:endParaRPr lang="en-US" sz="4800" dirty="0"/>
            </a:p>
          </p:txBody>
        </p:sp>
        <p:sp>
          <p:nvSpPr>
            <p:cNvPr id="5" name="Text 2"/>
            <p:cNvSpPr txBox="1"/>
            <p:nvPr/>
          </p:nvSpPr>
          <p:spPr>
            <a:xfrm>
              <a:off x="457200" y="3017520"/>
              <a:ext cx="11274552" cy="457200"/>
            </a:xfrm>
            <a:prstGeom prst="rect">
              <a:avLst/>
            </a:prstGeom>
            <a:noFill/>
            <a:ln/>
          </p:spPr>
          <p:txBody>
            <a:bodyPr wrap="square" lIns="0" tIns="0" rIns="0" bIns="0" rtlCol="0" anchor="ctr"/>
            <a:lstStyle/>
            <a:p>
              <a:pPr marL="0" indent="0" algn="ctr">
                <a:buNone/>
              </a:pPr>
              <a:r>
                <a:rPr lang="en-US" sz="2200" i="1" dirty="0">
                  <a:solidFill>
                    <a:schemeClr val="accent1"/>
                  </a:solidFill>
                </a:rPr>
                <a:t>Reproduction and Targeted Improvements</a:t>
              </a:r>
              <a:endParaRPr lang="en-US" sz="2200" dirty="0"/>
            </a:p>
          </p:txBody>
        </p:sp>
      </p:grpSp>
      <p:grpSp>
        <p:nvGrpSpPr>
          <p:cNvPr id="11" name="Group 10">
            <a:extLst>
              <a:ext uri="{FF2B5EF4-FFF2-40B4-BE49-F238E27FC236}">
                <a16:creationId xmlns:a16="http://schemas.microsoft.com/office/drawing/2014/main" id="{693DA4E2-518F-C8B3-1F3A-CEFB25FEC68B}"/>
              </a:ext>
            </a:extLst>
          </p:cNvPr>
          <p:cNvGrpSpPr/>
          <p:nvPr/>
        </p:nvGrpSpPr>
        <p:grpSpPr>
          <a:xfrm>
            <a:off x="731520" y="3470055"/>
            <a:ext cx="10725912" cy="1170432"/>
            <a:chOff x="731520" y="3703320"/>
            <a:chExt cx="10725912" cy="1170432"/>
          </a:xfrm>
        </p:grpSpPr>
        <p:sp>
          <p:nvSpPr>
            <p:cNvPr id="6" name="Text 3"/>
            <p:cNvSpPr txBox="1"/>
            <p:nvPr/>
          </p:nvSpPr>
          <p:spPr>
            <a:xfrm>
              <a:off x="731520" y="3703320"/>
              <a:ext cx="10725912" cy="384048"/>
            </a:xfrm>
            <a:prstGeom prst="rect">
              <a:avLst/>
            </a:prstGeom>
            <a:noFill/>
            <a:ln/>
          </p:spPr>
          <p:txBody>
            <a:bodyPr wrap="square" lIns="0" tIns="0" rIns="0" bIns="0" rtlCol="0" anchor="ctr"/>
            <a:lstStyle/>
            <a:p>
              <a:pPr marL="0" indent="0" algn="ctr">
                <a:buNone/>
              </a:pPr>
              <a:r>
                <a:rPr lang="en-US" sz="1800" b="1" dirty="0">
                  <a:solidFill>
                    <a:schemeClr val="tx1"/>
                  </a:solidFill>
                </a:rPr>
                <a:t>Problem Statement: </a:t>
              </a:r>
              <a:r>
                <a:rPr lang="en-US" sz="1800" dirty="0">
                  <a:solidFill>
                    <a:schemeClr val="tx1"/>
                  </a:solidFill>
                </a:rPr>
                <a:t>13      </a:t>
              </a:r>
              <a:r>
                <a:rPr lang="en-US" sz="1800" b="1" dirty="0">
                  <a:solidFill>
                    <a:schemeClr val="tx1"/>
                  </a:solidFill>
                </a:rPr>
                <a:t>Team No: </a:t>
              </a:r>
              <a:r>
                <a:rPr lang="en-US" sz="1800" dirty="0">
                  <a:solidFill>
                    <a:schemeClr val="tx1"/>
                  </a:solidFill>
                </a:rPr>
                <a:t>______      </a:t>
              </a:r>
              <a:r>
                <a:rPr lang="en-US" sz="1800" b="1" dirty="0">
                  <a:solidFill>
                    <a:schemeClr val="tx1"/>
                  </a:solidFill>
                </a:rPr>
                <a:t>Section: </a:t>
              </a:r>
              <a:r>
                <a:rPr lang="en-US" sz="1800" dirty="0">
                  <a:solidFill>
                    <a:schemeClr val="tx1"/>
                  </a:solidFill>
                </a:rPr>
                <a:t>______</a:t>
              </a:r>
              <a:endParaRPr lang="en-US" sz="1800" dirty="0"/>
            </a:p>
          </p:txBody>
        </p:sp>
        <p:sp>
          <p:nvSpPr>
            <p:cNvPr id="7" name="Text 4"/>
            <p:cNvSpPr txBox="1"/>
            <p:nvPr/>
          </p:nvSpPr>
          <p:spPr>
            <a:xfrm>
              <a:off x="731520" y="4114800"/>
              <a:ext cx="10725912" cy="384048"/>
            </a:xfrm>
            <a:prstGeom prst="rect">
              <a:avLst/>
            </a:prstGeom>
            <a:noFill/>
            <a:ln/>
          </p:spPr>
          <p:txBody>
            <a:bodyPr wrap="square" lIns="0" tIns="0" rIns="0" bIns="0" rtlCol="0" anchor="ctr"/>
            <a:lstStyle/>
            <a:p>
              <a:pPr marL="0" indent="0" algn="ctr">
                <a:buNone/>
              </a:pPr>
              <a:r>
                <a:rPr lang="en-US" sz="1800" b="1" dirty="0">
                  <a:solidFill>
                    <a:schemeClr val="tx1"/>
                  </a:solidFill>
                </a:rPr>
                <a:t>Faculty: </a:t>
              </a:r>
              <a:r>
                <a:rPr lang="en-US" sz="1800" dirty="0">
                  <a:solidFill>
                    <a:schemeClr val="tx1"/>
                  </a:solidFill>
                </a:rPr>
                <a:t>______________________________</a:t>
              </a:r>
              <a:endParaRPr lang="en-US" sz="1800" dirty="0"/>
            </a:p>
          </p:txBody>
        </p:sp>
        <p:sp>
          <p:nvSpPr>
            <p:cNvPr id="8" name="Text 5"/>
            <p:cNvSpPr txBox="1"/>
            <p:nvPr/>
          </p:nvSpPr>
          <p:spPr>
            <a:xfrm>
              <a:off x="731520" y="4553712"/>
              <a:ext cx="10725912" cy="320040"/>
            </a:xfrm>
            <a:prstGeom prst="rect">
              <a:avLst/>
            </a:prstGeom>
            <a:noFill/>
            <a:ln/>
          </p:spPr>
          <p:txBody>
            <a:bodyPr wrap="square" lIns="0" tIns="0" rIns="0" bIns="0" rtlCol="0" anchor="ctr"/>
            <a:lstStyle/>
            <a:p>
              <a:pPr marL="0" indent="0" algn="ctr">
                <a:buNone/>
              </a:pPr>
              <a:r>
                <a:rPr lang="en-US" sz="1500" dirty="0">
                  <a:solidFill>
                    <a:schemeClr val="accent4"/>
                  </a:solidFill>
                </a:rPr>
                <a:t>PES University, Electronic City Campus, Bengaluru</a:t>
              </a:r>
              <a:endParaRPr lang="en-US" sz="1500" dirty="0"/>
            </a:p>
          </p:txBody>
        </p:sp>
      </p:gr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a:t>
            </a:fld>
            <a:endParaRPr lang="en-US"/>
          </a:p>
        </p:txBody>
      </p:sp>
      <p:grpSp>
        <p:nvGrpSpPr>
          <p:cNvPr id="12" name="Group 11">
            <a:extLst>
              <a:ext uri="{FF2B5EF4-FFF2-40B4-BE49-F238E27FC236}">
                <a16:creationId xmlns:a16="http://schemas.microsoft.com/office/drawing/2014/main" id="{0BC3229F-CFC3-E7D7-3C4E-E1D148B6C005}"/>
              </a:ext>
            </a:extLst>
          </p:cNvPr>
          <p:cNvGrpSpPr/>
          <p:nvPr/>
        </p:nvGrpSpPr>
        <p:grpSpPr>
          <a:xfrm>
            <a:off x="2917434" y="5151434"/>
            <a:ext cx="6619758" cy="1060704"/>
            <a:chOff x="2917434" y="4069080"/>
            <a:chExt cx="6619758" cy="1060704"/>
          </a:xfrm>
        </p:grpSpPr>
        <p:sp>
          <p:nvSpPr>
            <p:cNvPr id="13" name="Text 11">
              <a:extLst>
                <a:ext uri="{FF2B5EF4-FFF2-40B4-BE49-F238E27FC236}">
                  <a16:creationId xmlns:a16="http://schemas.microsoft.com/office/drawing/2014/main" id="{472A3346-29EA-5C9C-D7BC-9A4D5526D7FD}"/>
                </a:ext>
              </a:extLst>
            </p:cNvPr>
            <p:cNvSpPr txBox="1"/>
            <p:nvPr/>
          </p:nvSpPr>
          <p:spPr>
            <a:xfrm>
              <a:off x="6702552" y="4069080"/>
              <a:ext cx="2834640" cy="384048"/>
            </a:xfrm>
            <a:prstGeom prst="rect">
              <a:avLst/>
            </a:prstGeom>
            <a:noFill/>
            <a:ln/>
          </p:spPr>
          <p:txBody>
            <a:bodyPr wrap="square" lIns="0" tIns="0" rIns="0" bIns="0" rtlCol="0" anchor="ctr"/>
            <a:lstStyle/>
            <a:p>
              <a:pPr marL="0" indent="0" algn="ctr">
                <a:buNone/>
              </a:pPr>
              <a:r>
                <a:rPr lang="en-US" sz="1800" b="1" dirty="0">
                  <a:solidFill>
                    <a:schemeClr val="tx1"/>
                  </a:solidFill>
                </a:rPr>
                <a:t>______________________</a:t>
              </a:r>
              <a:endParaRPr lang="en-US" sz="1800" dirty="0"/>
            </a:p>
          </p:txBody>
        </p:sp>
        <p:sp>
          <p:nvSpPr>
            <p:cNvPr id="14" name="Text 12">
              <a:extLst>
                <a:ext uri="{FF2B5EF4-FFF2-40B4-BE49-F238E27FC236}">
                  <a16:creationId xmlns:a16="http://schemas.microsoft.com/office/drawing/2014/main" id="{53F51E6F-4405-AB15-FDEC-113398308552}"/>
                </a:ext>
              </a:extLst>
            </p:cNvPr>
            <p:cNvSpPr txBox="1"/>
            <p:nvPr/>
          </p:nvSpPr>
          <p:spPr>
            <a:xfrm>
              <a:off x="6702552" y="4480560"/>
              <a:ext cx="2834640" cy="310896"/>
            </a:xfrm>
            <a:prstGeom prst="rect">
              <a:avLst/>
            </a:prstGeom>
            <a:noFill/>
            <a:ln/>
          </p:spPr>
          <p:txBody>
            <a:bodyPr wrap="square" lIns="0" tIns="0" rIns="0" bIns="0" rtlCol="0" anchor="ctr"/>
            <a:lstStyle/>
            <a:p>
              <a:pPr marL="0" indent="0" algn="ctr">
                <a:buNone/>
              </a:pPr>
              <a:r>
                <a:rPr lang="en-US" sz="1400" dirty="0">
                  <a:solidFill>
                    <a:schemeClr val="accent1"/>
                  </a:solidFill>
                </a:rPr>
                <a:t>SRN: ______________</a:t>
              </a:r>
              <a:endParaRPr lang="en-US" sz="1400" dirty="0"/>
            </a:p>
          </p:txBody>
        </p:sp>
        <p:sp>
          <p:nvSpPr>
            <p:cNvPr id="15" name="Text 13">
              <a:extLst>
                <a:ext uri="{FF2B5EF4-FFF2-40B4-BE49-F238E27FC236}">
                  <a16:creationId xmlns:a16="http://schemas.microsoft.com/office/drawing/2014/main" id="{0F8F3A88-35A6-57EC-1455-00811D9C51EE}"/>
                </a:ext>
              </a:extLst>
            </p:cNvPr>
            <p:cNvSpPr txBox="1"/>
            <p:nvPr/>
          </p:nvSpPr>
          <p:spPr>
            <a:xfrm>
              <a:off x="6702552" y="4818888"/>
              <a:ext cx="2834640" cy="310896"/>
            </a:xfrm>
            <a:prstGeom prst="rect">
              <a:avLst/>
            </a:prstGeom>
            <a:noFill/>
            <a:ln/>
          </p:spPr>
          <p:txBody>
            <a:bodyPr wrap="square" lIns="0" tIns="0" rIns="0" bIns="0" rtlCol="0" anchor="ctr"/>
            <a:lstStyle/>
            <a:p>
              <a:pPr marL="0" indent="0" algn="ctr">
                <a:buNone/>
              </a:pPr>
              <a:r>
                <a:rPr lang="en-US" sz="1300" dirty="0">
                  <a:solidFill>
                    <a:schemeClr val="accent4"/>
                  </a:solidFill>
                </a:rPr>
                <a:t>Dept. of ______________</a:t>
              </a:r>
              <a:endParaRPr lang="en-US" sz="1300" dirty="0"/>
            </a:p>
          </p:txBody>
        </p:sp>
        <p:sp>
          <p:nvSpPr>
            <p:cNvPr id="16" name="Text 11">
              <a:extLst>
                <a:ext uri="{FF2B5EF4-FFF2-40B4-BE49-F238E27FC236}">
                  <a16:creationId xmlns:a16="http://schemas.microsoft.com/office/drawing/2014/main" id="{A144AEBD-A977-835D-6A1C-873C296542C1}"/>
                </a:ext>
              </a:extLst>
            </p:cNvPr>
            <p:cNvSpPr txBox="1"/>
            <p:nvPr/>
          </p:nvSpPr>
          <p:spPr>
            <a:xfrm>
              <a:off x="2917434" y="4069080"/>
              <a:ext cx="2834640" cy="384048"/>
            </a:xfrm>
            <a:prstGeom prst="rect">
              <a:avLst/>
            </a:prstGeom>
            <a:noFill/>
            <a:ln/>
          </p:spPr>
          <p:txBody>
            <a:bodyPr wrap="square" lIns="0" tIns="0" rIns="0" bIns="0" rtlCol="0" anchor="ctr"/>
            <a:lstStyle/>
            <a:p>
              <a:pPr marL="0" indent="0" algn="ctr">
                <a:buNone/>
              </a:pPr>
              <a:r>
                <a:rPr lang="en-US" sz="1800" b="1" dirty="0">
                  <a:solidFill>
                    <a:schemeClr val="tx1"/>
                  </a:solidFill>
                </a:rPr>
                <a:t>______________________</a:t>
              </a:r>
              <a:endParaRPr lang="en-US" sz="1800" dirty="0"/>
            </a:p>
          </p:txBody>
        </p:sp>
        <p:sp>
          <p:nvSpPr>
            <p:cNvPr id="17" name="Text 12">
              <a:extLst>
                <a:ext uri="{FF2B5EF4-FFF2-40B4-BE49-F238E27FC236}">
                  <a16:creationId xmlns:a16="http://schemas.microsoft.com/office/drawing/2014/main" id="{5CB33DE3-C89C-F487-4CEA-584BF44B2930}"/>
                </a:ext>
              </a:extLst>
            </p:cNvPr>
            <p:cNvSpPr txBox="1"/>
            <p:nvPr/>
          </p:nvSpPr>
          <p:spPr>
            <a:xfrm>
              <a:off x="2917434" y="4480560"/>
              <a:ext cx="2834640" cy="310896"/>
            </a:xfrm>
            <a:prstGeom prst="rect">
              <a:avLst/>
            </a:prstGeom>
            <a:noFill/>
            <a:ln/>
          </p:spPr>
          <p:txBody>
            <a:bodyPr wrap="square" lIns="0" tIns="0" rIns="0" bIns="0" rtlCol="0" anchor="ctr"/>
            <a:lstStyle/>
            <a:p>
              <a:pPr marL="0" indent="0" algn="ctr">
                <a:buNone/>
              </a:pPr>
              <a:r>
                <a:rPr lang="en-US" sz="1400" dirty="0">
                  <a:solidFill>
                    <a:schemeClr val="accent1"/>
                  </a:solidFill>
                </a:rPr>
                <a:t>SRN: ______________</a:t>
              </a:r>
              <a:endParaRPr lang="en-US" sz="1400" dirty="0"/>
            </a:p>
          </p:txBody>
        </p:sp>
        <p:sp>
          <p:nvSpPr>
            <p:cNvPr id="18" name="Text 13">
              <a:extLst>
                <a:ext uri="{FF2B5EF4-FFF2-40B4-BE49-F238E27FC236}">
                  <a16:creationId xmlns:a16="http://schemas.microsoft.com/office/drawing/2014/main" id="{0797DD76-8355-86F9-FF93-4E596615746A}"/>
                </a:ext>
              </a:extLst>
            </p:cNvPr>
            <p:cNvSpPr txBox="1"/>
            <p:nvPr/>
          </p:nvSpPr>
          <p:spPr>
            <a:xfrm>
              <a:off x="2917434" y="4818888"/>
              <a:ext cx="2834640" cy="310896"/>
            </a:xfrm>
            <a:prstGeom prst="rect">
              <a:avLst/>
            </a:prstGeom>
            <a:noFill/>
            <a:ln/>
          </p:spPr>
          <p:txBody>
            <a:bodyPr wrap="square" lIns="0" tIns="0" rIns="0" bIns="0" rtlCol="0" anchor="ctr"/>
            <a:lstStyle/>
            <a:p>
              <a:pPr marL="0" indent="0" algn="ctr">
                <a:buNone/>
              </a:pPr>
              <a:r>
                <a:rPr lang="en-US" sz="1300" dirty="0">
                  <a:solidFill>
                    <a:schemeClr val="accent4"/>
                  </a:solidFill>
                </a:rPr>
                <a:t>Dept. of ______________</a:t>
              </a:r>
              <a:endParaRPr lang="en-US" sz="13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Outline</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Outline item 1"/>
          <p:cNvSpPr/>
          <p:nvPr/>
        </p:nvSpPr>
        <p:spPr>
          <a:xfrm>
            <a:off x="457200" y="1417320"/>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6" name="Outline number 1"/>
          <p:cNvSpPr/>
          <p:nvPr/>
        </p:nvSpPr>
        <p:spPr>
          <a:xfrm>
            <a:off x="457200" y="1417320"/>
            <a:ext cx="685800" cy="822960"/>
          </a:xfrm>
          <a:prstGeom prst="rect">
            <a:avLst/>
          </a:prstGeom>
          <a:solidFill>
            <a:schemeClr val="accent1"/>
          </a:solidFill>
          <a:ln w="12700">
            <a:solidFill>
              <a:schemeClr val="accent1"/>
            </a:solidFill>
            <a:prstDash val="solid"/>
          </a:ln>
        </p:spPr>
      </p:sp>
      <p:sp>
        <p:nvSpPr>
          <p:cNvPr id="7" name="Text 4"/>
          <p:cNvSpPr txBox="1"/>
          <p:nvPr/>
        </p:nvSpPr>
        <p:spPr>
          <a:xfrm>
            <a:off x="457200" y="1417320"/>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5"/>
          <p:cNvSpPr txBox="1"/>
          <p:nvPr/>
        </p:nvSpPr>
        <p:spPr>
          <a:xfrm>
            <a:off x="1325880" y="1417320"/>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Problem statement</a:t>
            </a:r>
            <a:endParaRPr lang="en-US" sz="1700" dirty="0"/>
          </a:p>
          <a:p>
            <a:pPr marL="0" indent="0">
              <a:buNone/>
            </a:pPr>
            <a:r>
              <a:rPr lang="en-US" sz="1300" dirty="0">
                <a:solidFill>
                  <a:schemeClr val="accent4"/>
                </a:solidFill>
              </a:rPr>
              <a:t>The assigned paper and our task</a:t>
            </a:r>
            <a:endParaRPr lang="en-US" sz="1700" dirty="0"/>
          </a:p>
        </p:txBody>
      </p:sp>
      <p:sp>
        <p:nvSpPr>
          <p:cNvPr id="9" name="Outline item 2"/>
          <p:cNvSpPr/>
          <p:nvPr/>
        </p:nvSpPr>
        <p:spPr>
          <a:xfrm>
            <a:off x="457200" y="2386584"/>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0" name="Outline number 2"/>
          <p:cNvSpPr/>
          <p:nvPr/>
        </p:nvSpPr>
        <p:spPr>
          <a:xfrm>
            <a:off x="457200" y="2386584"/>
            <a:ext cx="685800" cy="822960"/>
          </a:xfrm>
          <a:prstGeom prst="rect">
            <a:avLst/>
          </a:prstGeom>
          <a:solidFill>
            <a:schemeClr val="accent1"/>
          </a:solidFill>
          <a:ln w="12700">
            <a:solidFill>
              <a:schemeClr val="accent1"/>
            </a:solidFill>
            <a:prstDash val="solid"/>
          </a:ln>
        </p:spPr>
      </p:sp>
      <p:sp>
        <p:nvSpPr>
          <p:cNvPr id="11" name="Text 8"/>
          <p:cNvSpPr txBox="1"/>
          <p:nvPr/>
        </p:nvSpPr>
        <p:spPr>
          <a:xfrm>
            <a:off x="457200" y="2386584"/>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Text 9"/>
          <p:cNvSpPr txBox="1"/>
          <p:nvPr/>
        </p:nvSpPr>
        <p:spPr>
          <a:xfrm>
            <a:off x="1325880" y="2386584"/>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What is a PINN</a:t>
            </a:r>
            <a:endParaRPr lang="en-US" sz="1700" dirty="0"/>
          </a:p>
          <a:p>
            <a:pPr marL="0" indent="0">
              <a:buNone/>
            </a:pPr>
            <a:r>
              <a:rPr lang="en-US" sz="1300" dirty="0">
                <a:solidFill>
                  <a:schemeClr val="accent4"/>
                </a:solidFill>
              </a:rPr>
              <a:t>How physics enters the loss</a:t>
            </a:r>
            <a:endParaRPr lang="en-US" sz="1700" dirty="0"/>
          </a:p>
        </p:txBody>
      </p:sp>
      <p:sp>
        <p:nvSpPr>
          <p:cNvPr id="13" name="Outline item 3"/>
          <p:cNvSpPr/>
          <p:nvPr/>
        </p:nvSpPr>
        <p:spPr>
          <a:xfrm>
            <a:off x="457200" y="3355848"/>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4" name="Outline number 3"/>
          <p:cNvSpPr/>
          <p:nvPr/>
        </p:nvSpPr>
        <p:spPr>
          <a:xfrm>
            <a:off x="457200" y="3355848"/>
            <a:ext cx="685800" cy="822960"/>
          </a:xfrm>
          <a:prstGeom prst="rect">
            <a:avLst/>
          </a:prstGeom>
          <a:solidFill>
            <a:schemeClr val="accent1"/>
          </a:solidFill>
          <a:ln w="12700">
            <a:solidFill>
              <a:schemeClr val="accent1"/>
            </a:solidFill>
            <a:prstDash val="solid"/>
          </a:ln>
        </p:spPr>
      </p:sp>
      <p:sp>
        <p:nvSpPr>
          <p:cNvPr id="15" name="Text 12"/>
          <p:cNvSpPr txBox="1"/>
          <p:nvPr/>
        </p:nvSpPr>
        <p:spPr>
          <a:xfrm>
            <a:off x="457200" y="3355848"/>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Text 13"/>
          <p:cNvSpPr txBox="1"/>
          <p:nvPr/>
        </p:nvSpPr>
        <p:spPr>
          <a:xfrm>
            <a:off x="1325880" y="3355848"/>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The reference paper</a:t>
            </a:r>
            <a:endParaRPr lang="en-US" sz="1700" dirty="0"/>
          </a:p>
          <a:p>
            <a:pPr marL="0" indent="0">
              <a:buNone/>
            </a:pPr>
            <a:r>
              <a:rPr lang="en-US" sz="1300" dirty="0">
                <a:solidFill>
                  <a:schemeClr val="accent4"/>
                </a:solidFill>
              </a:rPr>
              <a:t>Three mechanics problems</a:t>
            </a:r>
            <a:endParaRPr lang="en-US" sz="1700" dirty="0"/>
          </a:p>
        </p:txBody>
      </p:sp>
      <p:sp>
        <p:nvSpPr>
          <p:cNvPr id="17" name="Outline item 4"/>
          <p:cNvSpPr/>
          <p:nvPr/>
        </p:nvSpPr>
        <p:spPr>
          <a:xfrm>
            <a:off x="457200" y="4325112"/>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8" name="Outline number 4"/>
          <p:cNvSpPr/>
          <p:nvPr/>
        </p:nvSpPr>
        <p:spPr>
          <a:xfrm>
            <a:off x="457200" y="4325112"/>
            <a:ext cx="685800" cy="822960"/>
          </a:xfrm>
          <a:prstGeom prst="rect">
            <a:avLst/>
          </a:prstGeom>
          <a:solidFill>
            <a:schemeClr val="accent1"/>
          </a:solidFill>
          <a:ln w="12700">
            <a:solidFill>
              <a:schemeClr val="accent1"/>
            </a:solidFill>
            <a:prstDash val="solid"/>
          </a:ln>
        </p:spPr>
      </p:sp>
      <p:sp>
        <p:nvSpPr>
          <p:cNvPr id="19" name="Text 16"/>
          <p:cNvSpPr txBox="1"/>
          <p:nvPr/>
        </p:nvSpPr>
        <p:spPr>
          <a:xfrm>
            <a:off x="457200" y="4325112"/>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0" name="Text 17"/>
          <p:cNvSpPr txBox="1"/>
          <p:nvPr/>
        </p:nvSpPr>
        <p:spPr>
          <a:xfrm>
            <a:off x="1325880" y="4325112"/>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Our implementation</a:t>
            </a:r>
            <a:endParaRPr lang="en-US" sz="1700" dirty="0"/>
          </a:p>
          <a:p>
            <a:pPr marL="0" indent="0">
              <a:buNone/>
            </a:pPr>
            <a:r>
              <a:rPr lang="en-US" sz="1300" dirty="0">
                <a:solidFill>
                  <a:schemeClr val="accent4"/>
                </a:solidFill>
              </a:rPr>
              <a:t>Code, data and evaluation</a:t>
            </a:r>
            <a:endParaRPr lang="en-US" sz="1700" dirty="0"/>
          </a:p>
        </p:txBody>
      </p:sp>
      <p:sp>
        <p:nvSpPr>
          <p:cNvPr id="21" name="Outline item 5"/>
          <p:cNvSpPr/>
          <p:nvPr/>
        </p:nvSpPr>
        <p:spPr>
          <a:xfrm>
            <a:off x="457200" y="5294376"/>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2" name="Outline number 5"/>
          <p:cNvSpPr/>
          <p:nvPr/>
        </p:nvSpPr>
        <p:spPr>
          <a:xfrm>
            <a:off x="457200" y="5294376"/>
            <a:ext cx="685800" cy="822960"/>
          </a:xfrm>
          <a:prstGeom prst="rect">
            <a:avLst/>
          </a:prstGeom>
          <a:solidFill>
            <a:schemeClr val="accent1"/>
          </a:solidFill>
          <a:ln w="12700">
            <a:solidFill>
              <a:schemeClr val="accent1"/>
            </a:solidFill>
            <a:prstDash val="solid"/>
          </a:ln>
        </p:spPr>
      </p:sp>
      <p:sp>
        <p:nvSpPr>
          <p:cNvPr id="23" name="Text 20"/>
          <p:cNvSpPr txBox="1"/>
          <p:nvPr/>
        </p:nvSpPr>
        <p:spPr>
          <a:xfrm>
            <a:off x="457200" y="5294376"/>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4" name="Text 21"/>
          <p:cNvSpPr txBox="1"/>
          <p:nvPr/>
        </p:nvSpPr>
        <p:spPr>
          <a:xfrm>
            <a:off x="1325880" y="5294376"/>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Part 1 results</a:t>
            </a:r>
            <a:endParaRPr lang="en-US" sz="1700" dirty="0"/>
          </a:p>
          <a:p>
            <a:pPr marL="0" indent="0">
              <a:buNone/>
            </a:pPr>
            <a:r>
              <a:rPr lang="en-US" sz="1300" dirty="0">
                <a:solidFill>
                  <a:schemeClr val="accent4"/>
                </a:solidFill>
              </a:rPr>
              <a:t>Reproduction vs the paper</a:t>
            </a:r>
            <a:endParaRPr lang="en-US" sz="1700" dirty="0"/>
          </a:p>
        </p:txBody>
      </p:sp>
      <p:sp>
        <p:nvSpPr>
          <p:cNvPr id="25" name="Outline item 6"/>
          <p:cNvSpPr/>
          <p:nvPr/>
        </p:nvSpPr>
        <p:spPr>
          <a:xfrm>
            <a:off x="6217920" y="1417320"/>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6" name="Outline number 6"/>
          <p:cNvSpPr/>
          <p:nvPr/>
        </p:nvSpPr>
        <p:spPr>
          <a:xfrm>
            <a:off x="6217920" y="1417320"/>
            <a:ext cx="685800" cy="822960"/>
          </a:xfrm>
          <a:prstGeom prst="rect">
            <a:avLst/>
          </a:prstGeom>
          <a:solidFill>
            <a:schemeClr val="accent1"/>
          </a:solidFill>
          <a:ln w="12700">
            <a:solidFill>
              <a:schemeClr val="accent1"/>
            </a:solidFill>
            <a:prstDash val="solid"/>
          </a:ln>
        </p:spPr>
      </p:sp>
      <p:sp>
        <p:nvSpPr>
          <p:cNvPr id="27" name="Text 24"/>
          <p:cNvSpPr txBox="1"/>
          <p:nvPr/>
        </p:nvSpPr>
        <p:spPr>
          <a:xfrm>
            <a:off x="6217920" y="1417320"/>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sp>
        <p:nvSpPr>
          <p:cNvPr id="28" name="Text 25"/>
          <p:cNvSpPr txBox="1"/>
          <p:nvPr/>
        </p:nvSpPr>
        <p:spPr>
          <a:xfrm>
            <a:off x="7086600" y="1417320"/>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Finding the gaps</a:t>
            </a:r>
            <a:endParaRPr lang="en-US" sz="1700" dirty="0"/>
          </a:p>
          <a:p>
            <a:pPr marL="0" indent="0">
              <a:buNone/>
            </a:pPr>
            <a:r>
              <a:rPr lang="en-US" sz="1300" dirty="0">
                <a:solidFill>
                  <a:schemeClr val="accent4"/>
                </a:solidFill>
              </a:rPr>
              <a:t>Where the paper's method struggles</a:t>
            </a:r>
            <a:endParaRPr lang="en-US" sz="1700" dirty="0"/>
          </a:p>
        </p:txBody>
      </p:sp>
      <p:sp>
        <p:nvSpPr>
          <p:cNvPr id="29" name="Outline item 7"/>
          <p:cNvSpPr/>
          <p:nvPr/>
        </p:nvSpPr>
        <p:spPr>
          <a:xfrm>
            <a:off x="6217920" y="2386584"/>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30" name="Outline number 7"/>
          <p:cNvSpPr/>
          <p:nvPr/>
        </p:nvSpPr>
        <p:spPr>
          <a:xfrm>
            <a:off x="6217920" y="2386584"/>
            <a:ext cx="685800" cy="822960"/>
          </a:xfrm>
          <a:prstGeom prst="rect">
            <a:avLst/>
          </a:prstGeom>
          <a:solidFill>
            <a:schemeClr val="accent1"/>
          </a:solidFill>
          <a:ln w="12700">
            <a:solidFill>
              <a:schemeClr val="accent1"/>
            </a:solidFill>
            <a:prstDash val="solid"/>
          </a:ln>
        </p:spPr>
      </p:sp>
      <p:sp>
        <p:nvSpPr>
          <p:cNvPr id="31" name="Text 28"/>
          <p:cNvSpPr txBox="1"/>
          <p:nvPr/>
        </p:nvSpPr>
        <p:spPr>
          <a:xfrm>
            <a:off x="6217920" y="2386584"/>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7</a:t>
            </a:r>
            <a:endParaRPr lang="en-US" sz="2000" dirty="0"/>
          </a:p>
        </p:txBody>
      </p:sp>
      <p:sp>
        <p:nvSpPr>
          <p:cNvPr id="32" name="Text 29"/>
          <p:cNvSpPr txBox="1"/>
          <p:nvPr/>
        </p:nvSpPr>
        <p:spPr>
          <a:xfrm>
            <a:off x="7086600" y="2386584"/>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Fix 1: hard boundary</a:t>
            </a:r>
            <a:endParaRPr lang="en-US" sz="1700" dirty="0"/>
          </a:p>
          <a:p>
            <a:pPr marL="0" indent="0">
              <a:buNone/>
            </a:pPr>
            <a:r>
              <a:rPr lang="en-US" sz="1300" dirty="0">
                <a:solidFill>
                  <a:schemeClr val="accent4"/>
                </a:solidFill>
              </a:rPr>
              <a:t>Exact boundary condition</a:t>
            </a:r>
            <a:endParaRPr lang="en-US" sz="1700" dirty="0"/>
          </a:p>
        </p:txBody>
      </p:sp>
      <p:sp>
        <p:nvSpPr>
          <p:cNvPr id="33" name="Outline item 8"/>
          <p:cNvSpPr/>
          <p:nvPr/>
        </p:nvSpPr>
        <p:spPr>
          <a:xfrm>
            <a:off x="6217920" y="3355848"/>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34" name="Outline number 8"/>
          <p:cNvSpPr/>
          <p:nvPr/>
        </p:nvSpPr>
        <p:spPr>
          <a:xfrm>
            <a:off x="6217920" y="3355848"/>
            <a:ext cx="685800" cy="822960"/>
          </a:xfrm>
          <a:prstGeom prst="rect">
            <a:avLst/>
          </a:prstGeom>
          <a:solidFill>
            <a:schemeClr val="accent1"/>
          </a:solidFill>
          <a:ln w="12700">
            <a:solidFill>
              <a:schemeClr val="accent1"/>
            </a:solidFill>
            <a:prstDash val="solid"/>
          </a:ln>
        </p:spPr>
      </p:sp>
      <p:sp>
        <p:nvSpPr>
          <p:cNvPr id="35" name="Text 32"/>
          <p:cNvSpPr txBox="1"/>
          <p:nvPr/>
        </p:nvSpPr>
        <p:spPr>
          <a:xfrm>
            <a:off x="6217920" y="3355848"/>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8</a:t>
            </a:r>
            <a:endParaRPr lang="en-US" sz="2000" dirty="0"/>
          </a:p>
        </p:txBody>
      </p:sp>
      <p:sp>
        <p:nvSpPr>
          <p:cNvPr id="36" name="Text 33"/>
          <p:cNvSpPr txBox="1"/>
          <p:nvPr/>
        </p:nvSpPr>
        <p:spPr>
          <a:xfrm>
            <a:off x="7086600" y="3355848"/>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Fix 2: adaptive points</a:t>
            </a:r>
            <a:endParaRPr lang="en-US" sz="1700" dirty="0"/>
          </a:p>
          <a:p>
            <a:pPr marL="0" indent="0">
              <a:buNone/>
            </a:pPr>
            <a:r>
              <a:rPr lang="en-US" sz="1300" dirty="0">
                <a:solidFill>
                  <a:schemeClr val="accent4"/>
                </a:solidFill>
              </a:rPr>
              <a:t>RAR plus a control experiment</a:t>
            </a:r>
            <a:endParaRPr lang="en-US" sz="1700" dirty="0"/>
          </a:p>
        </p:txBody>
      </p:sp>
      <p:sp>
        <p:nvSpPr>
          <p:cNvPr id="37" name="Outline item 9"/>
          <p:cNvSpPr/>
          <p:nvPr/>
        </p:nvSpPr>
        <p:spPr>
          <a:xfrm>
            <a:off x="6217920" y="4325112"/>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38" name="Outline number 9"/>
          <p:cNvSpPr/>
          <p:nvPr/>
        </p:nvSpPr>
        <p:spPr>
          <a:xfrm>
            <a:off x="6217920" y="4325112"/>
            <a:ext cx="685800" cy="822960"/>
          </a:xfrm>
          <a:prstGeom prst="rect">
            <a:avLst/>
          </a:prstGeom>
          <a:solidFill>
            <a:schemeClr val="accent1"/>
          </a:solidFill>
          <a:ln w="12700">
            <a:solidFill>
              <a:schemeClr val="accent1"/>
            </a:solidFill>
            <a:prstDash val="solid"/>
          </a:ln>
        </p:spPr>
      </p:sp>
      <p:sp>
        <p:nvSpPr>
          <p:cNvPr id="39" name="Text 36"/>
          <p:cNvSpPr txBox="1"/>
          <p:nvPr/>
        </p:nvSpPr>
        <p:spPr>
          <a:xfrm>
            <a:off x="6217920" y="4325112"/>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9</a:t>
            </a:r>
            <a:endParaRPr lang="en-US" sz="2000" dirty="0"/>
          </a:p>
        </p:txBody>
      </p:sp>
      <p:sp>
        <p:nvSpPr>
          <p:cNvPr id="40" name="Text 37"/>
          <p:cNvSpPr txBox="1"/>
          <p:nvPr/>
        </p:nvSpPr>
        <p:spPr>
          <a:xfrm>
            <a:off x="7086600" y="4325112"/>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Live demo</a:t>
            </a:r>
            <a:endParaRPr lang="en-US" sz="1700" dirty="0"/>
          </a:p>
          <a:p>
            <a:pPr marL="0" indent="0">
              <a:buNone/>
            </a:pPr>
            <a:r>
              <a:rPr lang="en-US" sz="1300" dirty="0">
                <a:solidFill>
                  <a:schemeClr val="accent4"/>
                </a:solidFill>
              </a:rPr>
              <a:t>Running the code</a:t>
            </a:r>
            <a:endParaRPr lang="en-US" sz="1700" dirty="0"/>
          </a:p>
        </p:txBody>
      </p:sp>
      <p:sp>
        <p:nvSpPr>
          <p:cNvPr id="41" name="Outline item 10"/>
          <p:cNvSpPr/>
          <p:nvPr/>
        </p:nvSpPr>
        <p:spPr>
          <a:xfrm>
            <a:off x="6217920" y="5294376"/>
            <a:ext cx="5486400" cy="82296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42" name="Outline number 10"/>
          <p:cNvSpPr/>
          <p:nvPr/>
        </p:nvSpPr>
        <p:spPr>
          <a:xfrm>
            <a:off x="6217920" y="5294376"/>
            <a:ext cx="685800" cy="822960"/>
          </a:xfrm>
          <a:prstGeom prst="rect">
            <a:avLst/>
          </a:prstGeom>
          <a:solidFill>
            <a:schemeClr val="accent1"/>
          </a:solidFill>
          <a:ln w="12700">
            <a:solidFill>
              <a:schemeClr val="accent1"/>
            </a:solidFill>
            <a:prstDash val="solid"/>
          </a:ln>
        </p:spPr>
      </p:sp>
      <p:sp>
        <p:nvSpPr>
          <p:cNvPr id="43" name="Text 40"/>
          <p:cNvSpPr txBox="1"/>
          <p:nvPr/>
        </p:nvSpPr>
        <p:spPr>
          <a:xfrm>
            <a:off x="6217920" y="5294376"/>
            <a:ext cx="685800" cy="822960"/>
          </a:xfrm>
          <a:prstGeom prst="rect">
            <a:avLst/>
          </a:prstGeom>
          <a:noFill/>
          <a:ln/>
        </p:spPr>
        <p:txBody>
          <a:bodyPr wrap="square" lIns="0" tIns="0" rIns="0" bIns="0" rtlCol="0" anchor="ctr"/>
          <a:lstStyle/>
          <a:p>
            <a:pPr marL="0" indent="0" algn="ctr">
              <a:buNone/>
            </a:pPr>
            <a:r>
              <a:rPr lang="en-US" sz="2000" b="1" dirty="0">
                <a:solidFill>
                  <a:schemeClr val="bg1"/>
                </a:solidFill>
              </a:rPr>
              <a:t>10</a:t>
            </a:r>
            <a:endParaRPr lang="en-US" sz="2000" dirty="0"/>
          </a:p>
        </p:txBody>
      </p:sp>
      <p:sp>
        <p:nvSpPr>
          <p:cNvPr id="44" name="Text 41"/>
          <p:cNvSpPr txBox="1"/>
          <p:nvPr/>
        </p:nvSpPr>
        <p:spPr>
          <a:xfrm>
            <a:off x="7086600" y="5294376"/>
            <a:ext cx="4480560" cy="822960"/>
          </a:xfrm>
          <a:prstGeom prst="rect">
            <a:avLst/>
          </a:prstGeom>
          <a:noFill/>
          <a:ln/>
        </p:spPr>
        <p:txBody>
          <a:bodyPr wrap="square" lIns="0" tIns="0" rIns="0" bIns="0" rtlCol="0" anchor="ctr"/>
          <a:lstStyle/>
          <a:p>
            <a:pPr marL="0" indent="0">
              <a:buNone/>
            </a:pPr>
            <a:r>
              <a:rPr lang="en-US" sz="1700" b="1" dirty="0">
                <a:solidFill>
                  <a:schemeClr val="tx1"/>
                </a:solidFill>
              </a:rPr>
              <a:t>Conclusions</a:t>
            </a:r>
            <a:endParaRPr lang="en-US" sz="1700" dirty="0"/>
          </a:p>
          <a:p>
            <a:pPr marL="0" indent="0">
              <a:buNone/>
            </a:pPr>
            <a:r>
              <a:rPr lang="en-US" sz="1300" dirty="0">
                <a:solidFill>
                  <a:schemeClr val="accent4"/>
                </a:solidFill>
              </a:rPr>
              <a:t>Takeaways, limits and next steps</a:t>
            </a:r>
            <a:endParaRPr lang="en-US" sz="1700" dirty="0"/>
          </a:p>
        </p:txBody>
      </p:sp>
      <p:sp>
        <p:nvSpPr>
          <p:cNvPr id="2"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The problem statement</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Problem Statement 13  —  reference: Zhang, Chen &amp; Yang, Stanford CS229 final report</a:t>
            </a:r>
            <a:endParaRPr lang="en-US" sz="1500" dirty="0"/>
          </a:p>
        </p:txBody>
      </p:sp>
      <p:sp>
        <p:nvSpPr>
          <p:cNvPr id="6" name="Dark box"/>
          <p:cNvSpPr/>
          <p:nvPr/>
        </p:nvSpPr>
        <p:spPr>
          <a:xfrm>
            <a:off x="457200" y="1737360"/>
            <a:ext cx="11274552" cy="1097280"/>
          </a:xfrm>
          <a:prstGeom prst="roundRect">
            <a:avLst>
              <a:gd name="adj" fmla="val 6667"/>
            </a:avLst>
          </a:prstGeom>
          <a:solidFill>
            <a:schemeClr val="tx1"/>
          </a:solidFill>
          <a:ln w="12700">
            <a:solidFill>
              <a:schemeClr val="tx1"/>
            </a:solidFill>
            <a:prstDash val="solid"/>
          </a:ln>
        </p:spPr>
      </p:sp>
      <p:sp>
        <p:nvSpPr>
          <p:cNvPr id="7" name="Text 4"/>
          <p:cNvSpPr txBox="1"/>
          <p:nvPr/>
        </p:nvSpPr>
        <p:spPr>
          <a:xfrm>
            <a:off x="731520" y="1737360"/>
            <a:ext cx="10725912" cy="1097280"/>
          </a:xfrm>
          <a:prstGeom prst="rect">
            <a:avLst/>
          </a:prstGeom>
          <a:noFill/>
          <a:ln/>
        </p:spPr>
        <p:txBody>
          <a:bodyPr wrap="square" lIns="0" tIns="0" rIns="0" bIns="0" rtlCol="0" anchor="ctr"/>
          <a:lstStyle/>
          <a:p>
            <a:pPr marL="0" indent="0">
              <a:buNone/>
            </a:pPr>
            <a:r>
              <a:rPr lang="en-US" sz="2000" i="1" dirty="0">
                <a:solidFill>
                  <a:schemeClr val="bg1"/>
                </a:solidFill>
              </a:rPr>
              <a:t>“Data Driven Solutions and Discoveries in Mechanics Using Physics Informed Neural Network”</a:t>
            </a:r>
            <a:endParaRPr lang="en-US" sz="2000" dirty="0"/>
          </a:p>
          <a:p>
            <a:pPr marL="0" indent="0">
              <a:buNone/>
            </a:pPr>
            <a:r>
              <a:rPr lang="en-US" sz="1500" dirty="0">
                <a:solidFill>
                  <a:srgbClr val="C9D6E4"/>
                </a:solidFill>
              </a:rPr>
              <a:t>Can a neural network solve physics problems without a mesh or a labelled dataset, and even discover unknown physical parameters?</a:t>
            </a:r>
            <a:endParaRPr lang="en-US" sz="2000" dirty="0"/>
          </a:p>
        </p:txBody>
      </p:sp>
      <p:sp>
        <p:nvSpPr>
          <p:cNvPr id="8" name="GIVEN box"/>
          <p:cNvSpPr/>
          <p:nvPr/>
        </p:nvSpPr>
        <p:spPr>
          <a:xfrm>
            <a:off x="457200" y="3063240"/>
            <a:ext cx="3611880" cy="2148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9" name="GIVEN top"/>
          <p:cNvSpPr/>
          <p:nvPr/>
        </p:nvSpPr>
        <p:spPr>
          <a:xfrm>
            <a:off x="457200" y="3063240"/>
            <a:ext cx="3611880" cy="54864"/>
          </a:xfrm>
          <a:prstGeom prst="rect">
            <a:avLst/>
          </a:prstGeom>
          <a:solidFill>
            <a:schemeClr val="accent1"/>
          </a:solidFill>
          <a:ln w="12700">
            <a:solidFill>
              <a:schemeClr val="accent1"/>
            </a:solidFill>
            <a:prstDash val="solid"/>
          </a:ln>
        </p:spPr>
      </p:sp>
      <p:sp>
        <p:nvSpPr>
          <p:cNvPr id="10" name="Text 7"/>
          <p:cNvSpPr txBox="1"/>
          <p:nvPr/>
        </p:nvSpPr>
        <p:spPr>
          <a:xfrm>
            <a:off x="685800" y="324612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GIVEN</a:t>
            </a:r>
            <a:endParaRPr lang="en-US" sz="1100" dirty="0"/>
          </a:p>
        </p:txBody>
      </p:sp>
      <p:sp>
        <p:nvSpPr>
          <p:cNvPr id="11" name="Text 8"/>
          <p:cNvSpPr txBox="1"/>
          <p:nvPr/>
        </p:nvSpPr>
        <p:spPr>
          <a:xfrm>
            <a:off x="685800" y="3557016"/>
            <a:ext cx="3154680" cy="1517904"/>
          </a:xfrm>
          <a:prstGeom prst="rect">
            <a:avLst/>
          </a:prstGeom>
          <a:noFill/>
          <a:ln/>
        </p:spPr>
        <p:txBody>
          <a:bodyPr wrap="square" lIns="0" tIns="0" rIns="0" bIns="0" rtlCol="0" anchor="t"/>
          <a:lstStyle/>
          <a:p>
            <a:pPr marL="0" indent="0">
              <a:spcAft>
                <a:spcPts val="500"/>
              </a:spcAft>
              <a:buNone/>
            </a:pPr>
            <a:r>
              <a:rPr lang="en-US" sz="1500" dirty="0">
                <a:solidFill>
                  <a:schemeClr val="tx1"/>
                </a:solidFill>
              </a:rPr>
              <a:t>The governing equations of three mechanics problems, their boundary and initial conditions, and for one problem only 50 measurements.</a:t>
            </a:r>
            <a:endParaRPr lang="en-US" sz="1500" dirty="0"/>
          </a:p>
        </p:txBody>
      </p:sp>
      <p:sp>
        <p:nvSpPr>
          <p:cNvPr id="12" name="FIND box"/>
          <p:cNvSpPr/>
          <p:nvPr/>
        </p:nvSpPr>
        <p:spPr>
          <a:xfrm>
            <a:off x="4288536" y="3063240"/>
            <a:ext cx="3611880" cy="2148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3" name="FIND top"/>
          <p:cNvSpPr/>
          <p:nvPr/>
        </p:nvSpPr>
        <p:spPr>
          <a:xfrm>
            <a:off x="4288536" y="3063240"/>
            <a:ext cx="3611880" cy="54864"/>
          </a:xfrm>
          <a:prstGeom prst="rect">
            <a:avLst/>
          </a:prstGeom>
          <a:solidFill>
            <a:schemeClr val="accent1"/>
          </a:solidFill>
          <a:ln w="12700">
            <a:solidFill>
              <a:schemeClr val="accent1"/>
            </a:solidFill>
            <a:prstDash val="solid"/>
          </a:ln>
        </p:spPr>
      </p:sp>
      <p:sp>
        <p:nvSpPr>
          <p:cNvPr id="14" name="Text 11"/>
          <p:cNvSpPr txBox="1"/>
          <p:nvPr/>
        </p:nvSpPr>
        <p:spPr>
          <a:xfrm>
            <a:off x="4517136" y="324612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FIND</a:t>
            </a:r>
            <a:endParaRPr lang="en-US" sz="1100" dirty="0"/>
          </a:p>
        </p:txBody>
      </p:sp>
      <p:sp>
        <p:nvSpPr>
          <p:cNvPr id="15" name="Text 12"/>
          <p:cNvSpPr txBox="1"/>
          <p:nvPr/>
        </p:nvSpPr>
        <p:spPr>
          <a:xfrm>
            <a:off x="4517136" y="3557016"/>
            <a:ext cx="3154680" cy="1517904"/>
          </a:xfrm>
          <a:prstGeom prst="rect">
            <a:avLst/>
          </a:prstGeom>
          <a:noFill/>
          <a:ln/>
        </p:spPr>
        <p:txBody>
          <a:bodyPr wrap="square" lIns="0" tIns="0" rIns="0" bIns="0" rtlCol="0" anchor="t"/>
          <a:lstStyle/>
          <a:p>
            <a:pPr marL="0" indent="0">
              <a:spcAft>
                <a:spcPts val="500"/>
              </a:spcAft>
              <a:buNone/>
            </a:pPr>
            <a:r>
              <a:rPr lang="en-US" sz="1500" dirty="0">
                <a:solidFill>
                  <a:schemeClr val="tx1"/>
                </a:solidFill>
              </a:rPr>
              <a:t>The full solution everywhere, without a mesh. For the spring problem, also the unknown damping c and stiffness k.</a:t>
            </a:r>
            <a:endParaRPr lang="en-US" sz="1500" dirty="0"/>
          </a:p>
        </p:txBody>
      </p:sp>
      <p:sp>
        <p:nvSpPr>
          <p:cNvPr id="16" name="THE DIFFICULTY box"/>
          <p:cNvSpPr/>
          <p:nvPr/>
        </p:nvSpPr>
        <p:spPr>
          <a:xfrm>
            <a:off x="8119872" y="3063240"/>
            <a:ext cx="3611880" cy="2148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7" name="THE DIFFICULTY top"/>
          <p:cNvSpPr/>
          <p:nvPr/>
        </p:nvSpPr>
        <p:spPr>
          <a:xfrm>
            <a:off x="8119872" y="3063240"/>
            <a:ext cx="3611880" cy="54864"/>
          </a:xfrm>
          <a:prstGeom prst="rect">
            <a:avLst/>
          </a:prstGeom>
          <a:solidFill>
            <a:schemeClr val="accent1"/>
          </a:solidFill>
          <a:ln w="12700">
            <a:solidFill>
              <a:schemeClr val="accent1"/>
            </a:solidFill>
            <a:prstDash val="solid"/>
          </a:ln>
        </p:spPr>
      </p:sp>
      <p:sp>
        <p:nvSpPr>
          <p:cNvPr id="18" name="Text 15"/>
          <p:cNvSpPr txBox="1"/>
          <p:nvPr/>
        </p:nvSpPr>
        <p:spPr>
          <a:xfrm>
            <a:off x="8348472" y="324612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THE DIFFICULTY</a:t>
            </a:r>
            <a:endParaRPr lang="en-US" sz="1100" dirty="0"/>
          </a:p>
        </p:txBody>
      </p:sp>
      <p:sp>
        <p:nvSpPr>
          <p:cNvPr id="19" name="Text 16"/>
          <p:cNvSpPr txBox="1"/>
          <p:nvPr/>
        </p:nvSpPr>
        <p:spPr>
          <a:xfrm>
            <a:off x="8348472" y="3557016"/>
            <a:ext cx="3154680" cy="1517904"/>
          </a:xfrm>
          <a:prstGeom prst="rect">
            <a:avLst/>
          </a:prstGeom>
          <a:noFill/>
          <a:ln/>
        </p:spPr>
        <p:txBody>
          <a:bodyPr wrap="square" lIns="0" tIns="0" rIns="0" bIns="0" rtlCol="0" anchor="t"/>
          <a:lstStyle/>
          <a:p>
            <a:pPr marL="0" indent="0">
              <a:spcAft>
                <a:spcPts val="500"/>
              </a:spcAft>
              <a:buNone/>
            </a:pPr>
            <a:r>
              <a:rPr lang="en-US" sz="1500" dirty="0">
                <a:solidFill>
                  <a:schemeClr val="tx1"/>
                </a:solidFill>
              </a:rPr>
              <a:t>Mesh-based solvers cannot easily recover unknown parameters, and ordinary neural networks need large labelled datasets we do not have.</a:t>
            </a:r>
            <a:endParaRPr lang="en-US" sz="1500" dirty="0"/>
          </a:p>
        </p:txBody>
      </p:sp>
      <p:sp>
        <p:nvSpPr>
          <p:cNvPr id="20" name="Callout"/>
          <p:cNvSpPr/>
          <p:nvPr/>
        </p:nvSpPr>
        <p:spPr>
          <a:xfrm>
            <a:off x="457200" y="5440680"/>
            <a:ext cx="11274552" cy="868680"/>
          </a:xfrm>
          <a:prstGeom prst="rect">
            <a:avLst/>
          </a:prstGeom>
          <a:solidFill>
            <a:schemeClr val="bg2"/>
          </a:solidFill>
          <a:ln w="9525">
            <a:solidFill>
              <a:srgbClr val="D8E6F5"/>
            </a:solidFill>
            <a:prstDash val="solid"/>
          </a:ln>
        </p:spPr>
      </p:sp>
      <p:sp>
        <p:nvSpPr>
          <p:cNvPr id="21" name="Text 18"/>
          <p:cNvSpPr txBox="1"/>
          <p:nvPr/>
        </p:nvSpPr>
        <p:spPr>
          <a:xfrm>
            <a:off x="685800" y="5440680"/>
            <a:ext cx="10817352" cy="868680"/>
          </a:xfrm>
          <a:prstGeom prst="rect">
            <a:avLst/>
          </a:prstGeom>
          <a:noFill/>
          <a:ln/>
        </p:spPr>
        <p:txBody>
          <a:bodyPr wrap="square" lIns="0" tIns="0" rIns="0" bIns="0" rtlCol="0" anchor="ctr"/>
          <a:lstStyle/>
          <a:p>
            <a:pPr marL="0" indent="0">
              <a:buNone/>
            </a:pPr>
            <a:r>
              <a:rPr lang="en-US" sz="1500" b="1" dirty="0">
                <a:solidFill>
                  <a:schemeClr val="accent1"/>
                </a:solidFill>
              </a:rPr>
              <a:t>Our goal:  </a:t>
            </a:r>
            <a:r>
              <a:rPr lang="en-US" sz="1500" dirty="0">
                <a:solidFill>
                  <a:schemeClr val="tx1"/>
                </a:solidFill>
              </a:rPr>
              <a:t>reproduce all three results faithfully, then test whether the improvements the authors themselves suggested actually make PINNs more accurate.</a:t>
            </a:r>
            <a:endParaRPr lang="en-US" sz="15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What is a physics-informed neural network?</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An ordinary neural network whose loss contains the governing equation</a:t>
            </a:r>
            <a:endParaRPr lang="en-US" sz="1500" dirty="0"/>
          </a:p>
        </p:txBody>
      </p:sp>
      <p:sp>
        <p:nvSpPr>
          <p:cNvPr id="6" name="Flow Inputs"/>
          <p:cNvSpPr/>
          <p:nvPr/>
        </p:nvSpPr>
        <p:spPr>
          <a:xfrm>
            <a:off x="457200" y="1828800"/>
            <a:ext cx="1965960" cy="1051560"/>
          </a:xfrm>
          <a:prstGeom prst="roundRect">
            <a:avLst>
              <a:gd name="adj" fmla="val 6957"/>
            </a:avLst>
          </a:prstGeom>
          <a:solidFill>
            <a:schemeClr val="bg2"/>
          </a:solidFill>
          <a:ln w="9525">
            <a:solidFill>
              <a:srgbClr val="D8E6F5"/>
            </a:solidFill>
            <a:prstDash val="solid"/>
          </a:ln>
        </p:spPr>
      </p:sp>
      <p:sp>
        <p:nvSpPr>
          <p:cNvPr id="7" name="Text 4"/>
          <p:cNvSpPr txBox="1"/>
          <p:nvPr/>
        </p:nvSpPr>
        <p:spPr>
          <a:xfrm>
            <a:off x="530352" y="1828800"/>
            <a:ext cx="1819656" cy="1051560"/>
          </a:xfrm>
          <a:prstGeom prst="rect">
            <a:avLst/>
          </a:prstGeom>
          <a:noFill/>
          <a:ln/>
        </p:spPr>
        <p:txBody>
          <a:bodyPr wrap="square" lIns="0" tIns="0" rIns="0" bIns="0" rtlCol="0" anchor="ctr"/>
          <a:lstStyle/>
          <a:p>
            <a:pPr marL="0" indent="0" algn="ctr">
              <a:buNone/>
            </a:pPr>
            <a:r>
              <a:rPr lang="en-US" sz="1600" b="1" dirty="0">
                <a:solidFill>
                  <a:schemeClr val="tx1"/>
                </a:solidFill>
              </a:rPr>
              <a:t>Inputs</a:t>
            </a:r>
            <a:endParaRPr lang="en-US" sz="1600" dirty="0"/>
          </a:p>
          <a:p>
            <a:pPr marL="0" indent="0" algn="ctr">
              <a:buNone/>
            </a:pPr>
            <a:r>
              <a:rPr lang="en-US" sz="1300" dirty="0">
                <a:solidFill>
                  <a:schemeClr val="tx1"/>
                </a:solidFill>
              </a:rPr>
              <a:t>x, t  (random points)</a:t>
            </a:r>
            <a:endParaRPr lang="en-US" sz="1600" dirty="0"/>
          </a:p>
        </p:txBody>
      </p:sp>
      <p:sp>
        <p:nvSpPr>
          <p:cNvPr id="8" name="Arrow"/>
          <p:cNvSpPr/>
          <p:nvPr/>
        </p:nvSpPr>
        <p:spPr>
          <a:xfrm>
            <a:off x="2459736" y="2354580"/>
            <a:ext cx="288036" cy="0"/>
          </a:xfrm>
          <a:prstGeom prst="line">
            <a:avLst/>
          </a:prstGeom>
          <a:noFill/>
          <a:ln w="19050">
            <a:solidFill>
              <a:schemeClr val="accent4"/>
            </a:solidFill>
            <a:prstDash val="solid"/>
            <a:tailEnd type="triangle"/>
          </a:ln>
        </p:spPr>
      </p:sp>
      <p:sp>
        <p:nvSpPr>
          <p:cNvPr id="9" name="Flow Neural network"/>
          <p:cNvSpPr/>
          <p:nvPr/>
        </p:nvSpPr>
        <p:spPr>
          <a:xfrm>
            <a:off x="2784348" y="1828800"/>
            <a:ext cx="1965960" cy="1051560"/>
          </a:xfrm>
          <a:prstGeom prst="roundRect">
            <a:avLst>
              <a:gd name="adj" fmla="val 6957"/>
            </a:avLst>
          </a:prstGeom>
          <a:solidFill>
            <a:schemeClr val="accent1"/>
          </a:solidFill>
          <a:ln w="9525">
            <a:solidFill>
              <a:schemeClr val="accent1"/>
            </a:solidFill>
            <a:prstDash val="solid"/>
          </a:ln>
        </p:spPr>
      </p:sp>
      <p:sp>
        <p:nvSpPr>
          <p:cNvPr id="10" name="Text 7"/>
          <p:cNvSpPr txBox="1"/>
          <p:nvPr/>
        </p:nvSpPr>
        <p:spPr>
          <a:xfrm>
            <a:off x="2857500" y="1828800"/>
            <a:ext cx="1819656" cy="1051560"/>
          </a:xfrm>
          <a:prstGeom prst="rect">
            <a:avLst/>
          </a:prstGeom>
          <a:noFill/>
          <a:ln/>
        </p:spPr>
        <p:txBody>
          <a:bodyPr wrap="square" lIns="0" tIns="0" rIns="0" bIns="0" rtlCol="0" anchor="ctr"/>
          <a:lstStyle/>
          <a:p>
            <a:pPr marL="0" indent="0" algn="ctr">
              <a:buNone/>
            </a:pPr>
            <a:r>
              <a:rPr lang="en-US" sz="1600" b="1" dirty="0">
                <a:solidFill>
                  <a:schemeClr val="bg1"/>
                </a:solidFill>
              </a:rPr>
              <a:t>Neural network</a:t>
            </a:r>
            <a:endParaRPr lang="en-US" sz="1600" dirty="0"/>
          </a:p>
          <a:p>
            <a:pPr marL="0" indent="0" algn="ctr">
              <a:buNone/>
            </a:pPr>
            <a:r>
              <a:rPr lang="en-US" sz="1300" dirty="0">
                <a:solidFill>
                  <a:schemeClr val="bg1"/>
                </a:solidFill>
              </a:rPr>
              <a:t>tanh MLP, e.g. 5 × 50</a:t>
            </a:r>
            <a:endParaRPr lang="en-US" sz="1600" dirty="0"/>
          </a:p>
        </p:txBody>
      </p:sp>
      <p:sp>
        <p:nvSpPr>
          <p:cNvPr id="11" name="Arrow"/>
          <p:cNvSpPr/>
          <p:nvPr/>
        </p:nvSpPr>
        <p:spPr>
          <a:xfrm>
            <a:off x="4786884" y="2354580"/>
            <a:ext cx="288036" cy="0"/>
          </a:xfrm>
          <a:prstGeom prst="line">
            <a:avLst/>
          </a:prstGeom>
          <a:noFill/>
          <a:ln w="19050">
            <a:solidFill>
              <a:schemeClr val="accent4"/>
            </a:solidFill>
            <a:prstDash val="solid"/>
            <a:tailEnd type="triangle"/>
          </a:ln>
        </p:spPr>
      </p:sp>
      <p:sp>
        <p:nvSpPr>
          <p:cNvPr id="12" name="Flow Output"/>
          <p:cNvSpPr/>
          <p:nvPr/>
        </p:nvSpPr>
        <p:spPr>
          <a:xfrm>
            <a:off x="5111496" y="1828800"/>
            <a:ext cx="1965960" cy="1051560"/>
          </a:xfrm>
          <a:prstGeom prst="roundRect">
            <a:avLst>
              <a:gd name="adj" fmla="val 6957"/>
            </a:avLst>
          </a:prstGeom>
          <a:solidFill>
            <a:schemeClr val="bg2"/>
          </a:solidFill>
          <a:ln w="9525">
            <a:solidFill>
              <a:srgbClr val="D8E6F5"/>
            </a:solidFill>
            <a:prstDash val="solid"/>
          </a:ln>
        </p:spPr>
      </p:sp>
      <p:sp>
        <p:nvSpPr>
          <p:cNvPr id="13" name="Text 10"/>
          <p:cNvSpPr txBox="1"/>
          <p:nvPr/>
        </p:nvSpPr>
        <p:spPr>
          <a:xfrm>
            <a:off x="5184648" y="1828800"/>
            <a:ext cx="1819656" cy="1051560"/>
          </a:xfrm>
          <a:prstGeom prst="rect">
            <a:avLst/>
          </a:prstGeom>
          <a:noFill/>
          <a:ln/>
        </p:spPr>
        <p:txBody>
          <a:bodyPr wrap="square" lIns="0" tIns="0" rIns="0" bIns="0" rtlCol="0" anchor="ctr"/>
          <a:lstStyle/>
          <a:p>
            <a:pPr marL="0" indent="0" algn="ctr">
              <a:buNone/>
            </a:pPr>
            <a:r>
              <a:rPr lang="en-US" sz="1600" b="1" dirty="0">
                <a:solidFill>
                  <a:schemeClr val="tx1"/>
                </a:solidFill>
              </a:rPr>
              <a:t>Output</a:t>
            </a:r>
            <a:endParaRPr lang="en-US" sz="1600" dirty="0"/>
          </a:p>
          <a:p>
            <a:pPr marL="0" indent="0" algn="ctr">
              <a:buNone/>
            </a:pPr>
            <a:r>
              <a:rPr lang="en-US" sz="1300" dirty="0">
                <a:solidFill>
                  <a:schemeClr val="tx1"/>
                </a:solidFill>
              </a:rPr>
              <a:t>p̂(x, t)</a:t>
            </a:r>
            <a:endParaRPr lang="en-US" sz="1600" dirty="0"/>
          </a:p>
        </p:txBody>
      </p:sp>
      <p:sp>
        <p:nvSpPr>
          <p:cNvPr id="14" name="Arrow"/>
          <p:cNvSpPr/>
          <p:nvPr/>
        </p:nvSpPr>
        <p:spPr>
          <a:xfrm>
            <a:off x="7114032" y="2354580"/>
            <a:ext cx="288036" cy="0"/>
          </a:xfrm>
          <a:prstGeom prst="line">
            <a:avLst/>
          </a:prstGeom>
          <a:noFill/>
          <a:ln w="19050">
            <a:solidFill>
              <a:schemeClr val="accent4"/>
            </a:solidFill>
            <a:prstDash val="solid"/>
            <a:tailEnd type="triangle"/>
          </a:ln>
        </p:spPr>
      </p:sp>
      <p:sp>
        <p:nvSpPr>
          <p:cNvPr id="15" name="Flow Autograd"/>
          <p:cNvSpPr/>
          <p:nvPr/>
        </p:nvSpPr>
        <p:spPr>
          <a:xfrm>
            <a:off x="7438644" y="1828800"/>
            <a:ext cx="1965960" cy="1051560"/>
          </a:xfrm>
          <a:prstGeom prst="roundRect">
            <a:avLst>
              <a:gd name="adj" fmla="val 6957"/>
            </a:avLst>
          </a:prstGeom>
          <a:solidFill>
            <a:schemeClr val="accent1"/>
          </a:solidFill>
          <a:ln w="9525">
            <a:solidFill>
              <a:schemeClr val="accent1"/>
            </a:solidFill>
            <a:prstDash val="solid"/>
          </a:ln>
        </p:spPr>
      </p:sp>
      <p:sp>
        <p:nvSpPr>
          <p:cNvPr id="16" name="Text 13"/>
          <p:cNvSpPr txBox="1"/>
          <p:nvPr/>
        </p:nvSpPr>
        <p:spPr>
          <a:xfrm>
            <a:off x="7511796" y="1828800"/>
            <a:ext cx="1819656" cy="1051560"/>
          </a:xfrm>
          <a:prstGeom prst="rect">
            <a:avLst/>
          </a:prstGeom>
          <a:noFill/>
          <a:ln/>
        </p:spPr>
        <p:txBody>
          <a:bodyPr wrap="square" lIns="0" tIns="0" rIns="0" bIns="0" rtlCol="0" anchor="ctr"/>
          <a:lstStyle/>
          <a:p>
            <a:pPr marL="0" indent="0" algn="ctr">
              <a:buNone/>
            </a:pPr>
            <a:r>
              <a:rPr lang="en-US" sz="1600" b="1" dirty="0">
                <a:solidFill>
                  <a:schemeClr val="bg1"/>
                </a:solidFill>
              </a:rPr>
              <a:t>Autograd</a:t>
            </a:r>
            <a:endParaRPr lang="en-US" sz="1600" dirty="0"/>
          </a:p>
          <a:p>
            <a:pPr marL="0" indent="0" algn="ctr">
              <a:buNone/>
            </a:pPr>
            <a:r>
              <a:rPr lang="en-US" sz="1300" dirty="0">
                <a:solidFill>
                  <a:schemeClr val="bg1"/>
                </a:solidFill>
              </a:rPr>
              <a:t>exact p̂ₜ, p̂ₓₓ</a:t>
            </a:r>
            <a:endParaRPr lang="en-US" sz="1600" dirty="0"/>
          </a:p>
        </p:txBody>
      </p:sp>
      <p:sp>
        <p:nvSpPr>
          <p:cNvPr id="17" name="Arrow"/>
          <p:cNvSpPr/>
          <p:nvPr/>
        </p:nvSpPr>
        <p:spPr>
          <a:xfrm>
            <a:off x="9441180" y="2354580"/>
            <a:ext cx="288036" cy="0"/>
          </a:xfrm>
          <a:prstGeom prst="line">
            <a:avLst/>
          </a:prstGeom>
          <a:noFill/>
          <a:ln w="19050">
            <a:solidFill>
              <a:schemeClr val="accent4"/>
            </a:solidFill>
            <a:prstDash val="solid"/>
            <a:tailEnd type="triangle"/>
          </a:ln>
        </p:spPr>
      </p:sp>
      <p:sp>
        <p:nvSpPr>
          <p:cNvPr id="18" name="Flow Physics residual"/>
          <p:cNvSpPr/>
          <p:nvPr/>
        </p:nvSpPr>
        <p:spPr>
          <a:xfrm>
            <a:off x="9765792" y="1828800"/>
            <a:ext cx="1965960" cy="1051560"/>
          </a:xfrm>
          <a:prstGeom prst="roundRect">
            <a:avLst>
              <a:gd name="adj" fmla="val 6957"/>
            </a:avLst>
          </a:prstGeom>
          <a:solidFill>
            <a:schemeClr val="tx1"/>
          </a:solidFill>
          <a:ln w="9525">
            <a:solidFill>
              <a:schemeClr val="tx1"/>
            </a:solidFill>
            <a:prstDash val="solid"/>
          </a:ln>
        </p:spPr>
      </p:sp>
      <p:sp>
        <p:nvSpPr>
          <p:cNvPr id="19" name="Text 16"/>
          <p:cNvSpPr txBox="1"/>
          <p:nvPr/>
        </p:nvSpPr>
        <p:spPr>
          <a:xfrm>
            <a:off x="9838944" y="1828800"/>
            <a:ext cx="1819656" cy="1051560"/>
          </a:xfrm>
          <a:prstGeom prst="rect">
            <a:avLst/>
          </a:prstGeom>
          <a:noFill/>
          <a:ln/>
        </p:spPr>
        <p:txBody>
          <a:bodyPr wrap="square" lIns="0" tIns="0" rIns="0" bIns="0" rtlCol="0" anchor="ctr"/>
          <a:lstStyle/>
          <a:p>
            <a:pPr marL="0" indent="0" algn="ctr">
              <a:buNone/>
            </a:pPr>
            <a:r>
              <a:rPr lang="en-US" sz="1600" b="1" dirty="0">
                <a:solidFill>
                  <a:schemeClr val="bg1"/>
                </a:solidFill>
              </a:rPr>
              <a:t>Physics residual</a:t>
            </a:r>
            <a:endParaRPr lang="en-US" sz="1600" dirty="0"/>
          </a:p>
          <a:p>
            <a:pPr marL="0" indent="0" algn="ctr">
              <a:buNone/>
            </a:pPr>
            <a:r>
              <a:rPr lang="en-US" sz="1300" dirty="0">
                <a:solidFill>
                  <a:schemeClr val="bg1"/>
                </a:solidFill>
              </a:rPr>
              <a:t>r = p̂ₜ − p̂ₓₓ  → 0</a:t>
            </a:r>
            <a:endParaRPr lang="en-US" sz="1600" dirty="0"/>
          </a:p>
        </p:txBody>
      </p:sp>
      <p:sp>
        <p:nvSpPr>
          <p:cNvPr id="20" name="Dark box"/>
          <p:cNvSpPr/>
          <p:nvPr/>
        </p:nvSpPr>
        <p:spPr>
          <a:xfrm>
            <a:off x="457200" y="3200400"/>
            <a:ext cx="4206240" cy="1783080"/>
          </a:xfrm>
          <a:prstGeom prst="roundRect">
            <a:avLst>
              <a:gd name="adj" fmla="val 4103"/>
            </a:avLst>
          </a:prstGeom>
          <a:solidFill>
            <a:schemeClr val="tx1"/>
          </a:solidFill>
          <a:ln w="12700">
            <a:solidFill>
              <a:schemeClr val="tx1"/>
            </a:solidFill>
            <a:prstDash val="solid"/>
          </a:ln>
        </p:spPr>
      </p:sp>
      <p:sp>
        <p:nvSpPr>
          <p:cNvPr id="21" name="Text 18"/>
          <p:cNvSpPr txBox="1"/>
          <p:nvPr/>
        </p:nvSpPr>
        <p:spPr>
          <a:xfrm>
            <a:off x="731520" y="3200400"/>
            <a:ext cx="3657600" cy="1783080"/>
          </a:xfrm>
          <a:prstGeom prst="rect">
            <a:avLst/>
          </a:prstGeom>
          <a:noFill/>
          <a:ln/>
        </p:spPr>
        <p:txBody>
          <a:bodyPr wrap="square" lIns="0" tIns="0" rIns="0" bIns="0" rtlCol="0" anchor="ctr"/>
          <a:lstStyle/>
          <a:p>
            <a:pPr marL="0" indent="0">
              <a:buNone/>
            </a:pPr>
            <a:r>
              <a:rPr lang="en-US" sz="1400" dirty="0">
                <a:solidFill>
                  <a:srgbClr val="C9D6E4"/>
                </a:solidFill>
              </a:rPr>
              <a:t>Total loss</a:t>
            </a:r>
            <a:endParaRPr lang="en-US" sz="1800" dirty="0"/>
          </a:p>
          <a:p>
            <a:pPr marL="0" indent="0">
              <a:buNone/>
            </a:pPr>
            <a:r>
              <a:rPr lang="en-US" sz="2600" b="1" dirty="0">
                <a:solidFill>
                  <a:schemeClr val="bg1"/>
                </a:solidFill>
              </a:rPr>
              <a:t>L = w</a:t>
            </a:r>
            <a:r>
              <a:rPr lang="en-US" sz="1700" b="1" baseline="-40000" dirty="0">
                <a:solidFill>
                  <a:schemeClr val="bg1"/>
                </a:solidFill>
                <a:latin typeface="Calibri" pitchFamily="34" charset="0"/>
                <a:ea typeface="Calibri" pitchFamily="34" charset="-122"/>
                <a:cs typeface="Calibri" pitchFamily="34" charset="-120"/>
              </a:rPr>
              <a:t>f</a:t>
            </a:r>
            <a:r>
              <a:rPr lang="en-US" sz="2600" b="1" dirty="0">
                <a:solidFill>
                  <a:schemeClr val="bg1"/>
                </a:solidFill>
              </a:rPr>
              <a:t> L</a:t>
            </a:r>
            <a:r>
              <a:rPr lang="en-US" sz="1700" b="1" baseline="-40000" dirty="0">
                <a:solidFill>
                  <a:schemeClr val="bg1"/>
                </a:solidFill>
                <a:latin typeface="Calibri" pitchFamily="34" charset="0"/>
                <a:ea typeface="Calibri" pitchFamily="34" charset="-122"/>
                <a:cs typeface="Calibri" pitchFamily="34" charset="-120"/>
              </a:rPr>
              <a:t>f</a:t>
            </a:r>
            <a:r>
              <a:rPr lang="en-US" sz="2600" b="1" dirty="0">
                <a:solidFill>
                  <a:schemeClr val="bg1"/>
                </a:solidFill>
              </a:rPr>
              <a:t> + w</a:t>
            </a:r>
            <a:r>
              <a:rPr lang="en-US" sz="1700" b="1" baseline="-40000" dirty="0">
                <a:solidFill>
                  <a:schemeClr val="bg1"/>
                </a:solidFill>
                <a:latin typeface="Calibri" pitchFamily="34" charset="0"/>
                <a:ea typeface="Calibri" pitchFamily="34" charset="-122"/>
                <a:cs typeface="Calibri" pitchFamily="34" charset="-120"/>
              </a:rPr>
              <a:t>b</a:t>
            </a:r>
            <a:r>
              <a:rPr lang="en-US" sz="2600" b="1" dirty="0">
                <a:solidFill>
                  <a:schemeClr val="bg1"/>
                </a:solidFill>
              </a:rPr>
              <a:t> L</a:t>
            </a:r>
            <a:r>
              <a:rPr lang="en-US" sz="1700" b="1" baseline="-40000" dirty="0">
                <a:solidFill>
                  <a:schemeClr val="bg1"/>
                </a:solidFill>
                <a:latin typeface="Calibri" pitchFamily="34" charset="0"/>
                <a:ea typeface="Calibri" pitchFamily="34" charset="-122"/>
                <a:cs typeface="Calibri" pitchFamily="34" charset="-120"/>
              </a:rPr>
              <a:t>b</a:t>
            </a:r>
            <a:r>
              <a:rPr lang="en-US" sz="2600" b="1" dirty="0">
                <a:solidFill>
                  <a:schemeClr val="bg1"/>
                </a:solidFill>
              </a:rPr>
              <a:t> + w</a:t>
            </a:r>
            <a:r>
              <a:rPr lang="en-US" sz="1700" b="1" baseline="-40000" dirty="0">
                <a:solidFill>
                  <a:schemeClr val="bg1"/>
                </a:solidFill>
                <a:latin typeface="Calibri" pitchFamily="34" charset="0"/>
                <a:ea typeface="Calibri" pitchFamily="34" charset="-122"/>
                <a:cs typeface="Calibri" pitchFamily="34" charset="-120"/>
              </a:rPr>
              <a:t>d</a:t>
            </a:r>
            <a:r>
              <a:rPr lang="en-US" sz="2600" b="1" dirty="0">
                <a:solidFill>
                  <a:schemeClr val="bg1"/>
                </a:solidFill>
              </a:rPr>
              <a:t> L</a:t>
            </a:r>
            <a:r>
              <a:rPr lang="en-US" sz="1700" b="1" baseline="-40000" dirty="0">
                <a:solidFill>
                  <a:schemeClr val="bg1"/>
                </a:solidFill>
                <a:latin typeface="Calibri" pitchFamily="34" charset="0"/>
                <a:ea typeface="Calibri" pitchFamily="34" charset="-122"/>
                <a:cs typeface="Calibri" pitchFamily="34" charset="-120"/>
              </a:rPr>
              <a:t>d</a:t>
            </a:r>
            <a:endParaRPr lang="en-US" sz="1800" dirty="0"/>
          </a:p>
          <a:p>
            <a:pPr marL="0" indent="0">
              <a:buNone/>
            </a:pPr>
            <a:r>
              <a:rPr lang="en-US" sz="1300" dirty="0">
                <a:solidFill>
                  <a:srgbClr val="C9D6E4"/>
                </a:solidFill>
              </a:rPr>
              <a:t>paper Eq. (3.3); weights fixed at 1/4 or 1/2</a:t>
            </a:r>
            <a:endParaRPr lang="en-US" sz="1800" dirty="0"/>
          </a:p>
        </p:txBody>
      </p:sp>
      <p:sp>
        <p:nvSpPr>
          <p:cNvPr id="22" name="PHYSICS LOSS box"/>
          <p:cNvSpPr/>
          <p:nvPr/>
        </p:nvSpPr>
        <p:spPr>
          <a:xfrm>
            <a:off x="4892040" y="3200400"/>
            <a:ext cx="2212848" cy="17830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3" name="PHYSICS LOSS top"/>
          <p:cNvSpPr/>
          <p:nvPr/>
        </p:nvSpPr>
        <p:spPr>
          <a:xfrm>
            <a:off x="4892040" y="3200400"/>
            <a:ext cx="2212848" cy="54864"/>
          </a:xfrm>
          <a:prstGeom prst="rect">
            <a:avLst/>
          </a:prstGeom>
          <a:solidFill>
            <a:schemeClr val="accent1"/>
          </a:solidFill>
          <a:ln w="12700">
            <a:solidFill>
              <a:schemeClr val="accent1"/>
            </a:solidFill>
            <a:prstDash val="solid"/>
          </a:ln>
        </p:spPr>
      </p:sp>
      <p:sp>
        <p:nvSpPr>
          <p:cNvPr id="24" name="Text 21"/>
          <p:cNvSpPr txBox="1"/>
          <p:nvPr/>
        </p:nvSpPr>
        <p:spPr>
          <a:xfrm>
            <a:off x="5120640" y="3383280"/>
            <a:ext cx="1755648"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PHYSICS LOSS</a:t>
            </a:r>
            <a:endParaRPr lang="en-US" sz="1100" dirty="0"/>
          </a:p>
        </p:txBody>
      </p:sp>
      <p:sp>
        <p:nvSpPr>
          <p:cNvPr id="25" name="Text 22"/>
          <p:cNvSpPr txBox="1"/>
          <p:nvPr/>
        </p:nvSpPr>
        <p:spPr>
          <a:xfrm>
            <a:off x="5120640" y="3694176"/>
            <a:ext cx="1755648" cy="115214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Mean squared residual at interior points: does it obey the equation?</a:t>
            </a:r>
            <a:endParaRPr lang="en-US" sz="1400" dirty="0"/>
          </a:p>
        </p:txBody>
      </p:sp>
      <p:sp>
        <p:nvSpPr>
          <p:cNvPr id="26" name="BOUNDARY LOSS box"/>
          <p:cNvSpPr/>
          <p:nvPr/>
        </p:nvSpPr>
        <p:spPr>
          <a:xfrm>
            <a:off x="7260336" y="3200400"/>
            <a:ext cx="2212848" cy="17830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7" name="BOUNDARY LOSS top"/>
          <p:cNvSpPr/>
          <p:nvPr/>
        </p:nvSpPr>
        <p:spPr>
          <a:xfrm>
            <a:off x="7260336" y="3200400"/>
            <a:ext cx="2212848" cy="54864"/>
          </a:xfrm>
          <a:prstGeom prst="rect">
            <a:avLst/>
          </a:prstGeom>
          <a:solidFill>
            <a:schemeClr val="accent1"/>
          </a:solidFill>
          <a:ln w="12700">
            <a:solidFill>
              <a:schemeClr val="accent1"/>
            </a:solidFill>
            <a:prstDash val="solid"/>
          </a:ln>
        </p:spPr>
      </p:sp>
      <p:sp>
        <p:nvSpPr>
          <p:cNvPr id="28" name="Text 25"/>
          <p:cNvSpPr txBox="1"/>
          <p:nvPr/>
        </p:nvSpPr>
        <p:spPr>
          <a:xfrm>
            <a:off x="7488936" y="3383280"/>
            <a:ext cx="1755648"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BOUNDARY LOSS</a:t>
            </a:r>
            <a:endParaRPr lang="en-US" sz="1100" dirty="0"/>
          </a:p>
        </p:txBody>
      </p:sp>
      <p:sp>
        <p:nvSpPr>
          <p:cNvPr id="29" name="Text 26"/>
          <p:cNvSpPr txBox="1"/>
          <p:nvPr/>
        </p:nvSpPr>
        <p:spPr>
          <a:xfrm>
            <a:off x="7488936" y="3694176"/>
            <a:ext cx="1755648" cy="115214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Are the boundary and initial conditions satisfied?</a:t>
            </a:r>
            <a:endParaRPr lang="en-US" sz="1400" dirty="0"/>
          </a:p>
        </p:txBody>
      </p:sp>
      <p:sp>
        <p:nvSpPr>
          <p:cNvPr id="30" name="DATA LOSS box"/>
          <p:cNvSpPr/>
          <p:nvPr/>
        </p:nvSpPr>
        <p:spPr>
          <a:xfrm>
            <a:off x="9628632" y="3200400"/>
            <a:ext cx="2212848" cy="17830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31" name="DATA LOSS top"/>
          <p:cNvSpPr/>
          <p:nvPr/>
        </p:nvSpPr>
        <p:spPr>
          <a:xfrm>
            <a:off x="9628632" y="3200400"/>
            <a:ext cx="2212848" cy="54864"/>
          </a:xfrm>
          <a:prstGeom prst="rect">
            <a:avLst/>
          </a:prstGeom>
          <a:solidFill>
            <a:schemeClr val="accent2"/>
          </a:solidFill>
          <a:ln w="12700">
            <a:solidFill>
              <a:schemeClr val="accent2"/>
            </a:solidFill>
            <a:prstDash val="solid"/>
          </a:ln>
        </p:spPr>
      </p:sp>
      <p:sp>
        <p:nvSpPr>
          <p:cNvPr id="32" name="Text 29"/>
          <p:cNvSpPr txBox="1"/>
          <p:nvPr/>
        </p:nvSpPr>
        <p:spPr>
          <a:xfrm>
            <a:off x="9857232" y="3383280"/>
            <a:ext cx="1755648"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DATA LOSS</a:t>
            </a:r>
            <a:endParaRPr lang="en-US" sz="1100" dirty="0"/>
          </a:p>
        </p:txBody>
      </p:sp>
      <p:sp>
        <p:nvSpPr>
          <p:cNvPr id="33" name="Text 30"/>
          <p:cNvSpPr txBox="1"/>
          <p:nvPr/>
        </p:nvSpPr>
        <p:spPr>
          <a:xfrm>
            <a:off x="9857232" y="3694176"/>
            <a:ext cx="1755648" cy="115214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Does it match measured data? (inverse problem only)</a:t>
            </a:r>
            <a:endParaRPr lang="en-US" sz="1400" dirty="0"/>
          </a:p>
        </p:txBody>
      </p:sp>
      <p:sp>
        <p:nvSpPr>
          <p:cNvPr id="34" name="Callout"/>
          <p:cNvSpPr/>
          <p:nvPr/>
        </p:nvSpPr>
        <p:spPr>
          <a:xfrm>
            <a:off x="457200" y="5257800"/>
            <a:ext cx="11274552" cy="1051560"/>
          </a:xfrm>
          <a:prstGeom prst="rect">
            <a:avLst/>
          </a:prstGeom>
          <a:solidFill>
            <a:schemeClr val="bg2"/>
          </a:solidFill>
          <a:ln w="9525">
            <a:solidFill>
              <a:srgbClr val="D8E6F5"/>
            </a:solidFill>
            <a:prstDash val="solid"/>
          </a:ln>
        </p:spPr>
      </p:sp>
      <p:sp>
        <p:nvSpPr>
          <p:cNvPr id="35" name="Text 32"/>
          <p:cNvSpPr txBox="1"/>
          <p:nvPr/>
        </p:nvSpPr>
        <p:spPr>
          <a:xfrm>
            <a:off x="685800" y="5257800"/>
            <a:ext cx="10817352" cy="1051560"/>
          </a:xfrm>
          <a:prstGeom prst="rect">
            <a:avLst/>
          </a:prstGeom>
          <a:noFill/>
          <a:ln/>
        </p:spPr>
        <p:txBody>
          <a:bodyPr wrap="square" lIns="0" tIns="0" rIns="0" bIns="0" rtlCol="0" anchor="ctr"/>
          <a:lstStyle/>
          <a:p>
            <a:pPr marL="0" indent="0">
              <a:buNone/>
            </a:pPr>
            <a:r>
              <a:rPr lang="en-US" sz="1500" b="1" dirty="0">
                <a:solidFill>
                  <a:schemeClr val="accent1"/>
                </a:solidFill>
              </a:rPr>
              <a:t>No mesh, no labelled dataset:  </a:t>
            </a:r>
            <a:r>
              <a:rPr lang="en-US" sz="1500" dirty="0">
                <a:solidFill>
                  <a:schemeClr val="tx1"/>
                </a:solidFill>
              </a:rPr>
              <a:t>training points are random locations, and the equation provides the supervision. tanh is used because the residual needs second derivatives (ReLU's are zero).</a:t>
            </a:r>
            <a:endParaRPr lang="en-US" sz="1500" dirty="0"/>
          </a:p>
        </p:txBody>
      </p:sp>
      <p:sp>
        <p:nvSpPr>
          <p:cNvPr id="2"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The reference paper: three mechanics problems</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Two forward problems (find the solution) and one inverse problem (find the parameters)</a:t>
            </a:r>
            <a:endParaRPr lang="en-US" sz="1500" dirty="0"/>
          </a:p>
        </p:txBody>
      </p:sp>
      <p:sp>
        <p:nvSpPr>
          <p:cNvPr id="6" name="PROBLEM 1 · FORWARD box"/>
          <p:cNvSpPr/>
          <p:nvPr/>
        </p:nvSpPr>
        <p:spPr>
          <a:xfrm>
            <a:off x="457200" y="1783080"/>
            <a:ext cx="3611880" cy="3429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7" name="PROBLEM 1 · FORWARD top"/>
          <p:cNvSpPr/>
          <p:nvPr/>
        </p:nvSpPr>
        <p:spPr>
          <a:xfrm>
            <a:off x="457200" y="1783080"/>
            <a:ext cx="3611880" cy="54864"/>
          </a:xfrm>
          <a:prstGeom prst="rect">
            <a:avLst/>
          </a:prstGeom>
          <a:solidFill>
            <a:schemeClr val="accent1"/>
          </a:solidFill>
          <a:ln w="12700">
            <a:solidFill>
              <a:schemeClr val="accent1"/>
            </a:solidFill>
            <a:prstDash val="solid"/>
          </a:ln>
        </p:spPr>
      </p:sp>
      <p:sp>
        <p:nvSpPr>
          <p:cNvPr id="8" name="Text 5"/>
          <p:cNvSpPr txBox="1"/>
          <p:nvPr/>
        </p:nvSpPr>
        <p:spPr>
          <a:xfrm>
            <a:off x="685800" y="196596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PROBLEM 1 · FORWARD</a:t>
            </a:r>
            <a:endParaRPr lang="en-US" sz="1100" dirty="0"/>
          </a:p>
        </p:txBody>
      </p:sp>
      <p:sp>
        <p:nvSpPr>
          <p:cNvPr id="9" name="Text 6"/>
          <p:cNvSpPr txBox="1"/>
          <p:nvPr/>
        </p:nvSpPr>
        <p:spPr>
          <a:xfrm>
            <a:off x="685800" y="2276856"/>
            <a:ext cx="3154680" cy="365760"/>
          </a:xfrm>
          <a:prstGeom prst="rect">
            <a:avLst/>
          </a:prstGeom>
          <a:noFill/>
          <a:ln/>
        </p:spPr>
        <p:txBody>
          <a:bodyPr wrap="square" lIns="0" tIns="0" rIns="0" bIns="0" rtlCol="0" anchor="t"/>
          <a:lstStyle/>
          <a:p>
            <a:pPr marL="0" indent="0">
              <a:buNone/>
            </a:pPr>
            <a:r>
              <a:rPr lang="en-US" sz="1700" b="1" dirty="0">
                <a:solidFill>
                  <a:schemeClr val="tx1"/>
                </a:solidFill>
              </a:rPr>
              <a:t>1D soil consolidation</a:t>
            </a:r>
            <a:endParaRPr lang="en-US" sz="1700" dirty="0"/>
          </a:p>
        </p:txBody>
      </p:sp>
      <p:sp>
        <p:nvSpPr>
          <p:cNvPr id="10" name="Text 7"/>
          <p:cNvSpPr txBox="1"/>
          <p:nvPr/>
        </p:nvSpPr>
        <p:spPr>
          <a:xfrm>
            <a:off x="685800" y="2697480"/>
            <a:ext cx="3154680" cy="23774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pₜ = pₓₓ on (0,1) × (0, 0.5]</a:t>
            </a:r>
            <a:endParaRPr lang="en-US" sz="1400" dirty="0"/>
          </a:p>
          <a:p>
            <a:pPr marL="177800" indent="-177800">
              <a:spcAft>
                <a:spcPts val="500"/>
              </a:spcAft>
              <a:buSzPct val="100000"/>
              <a:buChar char="•"/>
            </a:pPr>
            <a:r>
              <a:rPr lang="en-US" sz="1400" dirty="0">
                <a:solidFill>
                  <a:schemeClr val="tx1"/>
                </a:solidFill>
              </a:rPr>
              <a:t>Drained top p = 0, sealed base pₓ = 0, p = 1 at t = 0</a:t>
            </a:r>
            <a:endParaRPr lang="en-US" sz="1400" dirty="0"/>
          </a:p>
          <a:p>
            <a:pPr marL="177800" indent="-177800">
              <a:spcAft>
                <a:spcPts val="500"/>
              </a:spcAft>
              <a:buSzPct val="100000"/>
              <a:buChar char="•"/>
            </a:pPr>
            <a:r>
              <a:rPr lang="en-US" sz="1400" dirty="0">
                <a:solidFill>
                  <a:schemeClr val="tx1"/>
                </a:solidFill>
              </a:rPr>
              <a:t>Output multiplied by x: top condition exact</a:t>
            </a:r>
            <a:endParaRPr lang="en-US" sz="1400" dirty="0"/>
          </a:p>
          <a:p>
            <a:pPr marL="177800" indent="-177800">
              <a:spcAft>
                <a:spcPts val="500"/>
              </a:spcAft>
              <a:buSzPct val="100000"/>
              <a:buChar char="•"/>
            </a:pPr>
            <a:r>
              <a:rPr lang="en-US" sz="1400" dirty="0">
                <a:solidFill>
                  <a:schemeClr val="tx1"/>
                </a:solidFill>
              </a:rPr>
              <a:t>Reference: exact series solution</a:t>
            </a:r>
            <a:endParaRPr lang="en-US" sz="1400" dirty="0"/>
          </a:p>
          <a:p>
            <a:pPr marL="177800" indent="-177800">
              <a:spcAft>
                <a:spcPts val="500"/>
              </a:spcAft>
              <a:buSzPct val="100000"/>
              <a:buChar char="•"/>
            </a:pPr>
            <a:r>
              <a:rPr lang="en-US" sz="1400" dirty="0">
                <a:solidFill>
                  <a:schemeClr val="tx1"/>
                </a:solidFill>
              </a:rPr>
              <a:t>5 × 50 net · 500 / 250 / 125 points</a:t>
            </a:r>
            <a:endParaRPr lang="en-US" sz="1400" dirty="0"/>
          </a:p>
        </p:txBody>
      </p:sp>
      <p:sp>
        <p:nvSpPr>
          <p:cNvPr id="11" name="PROBLEM 2 · FORWARD box"/>
          <p:cNvSpPr/>
          <p:nvPr/>
        </p:nvSpPr>
        <p:spPr>
          <a:xfrm>
            <a:off x="4288536" y="1783080"/>
            <a:ext cx="3611880" cy="3429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2" name="PROBLEM 2 · FORWARD top"/>
          <p:cNvSpPr/>
          <p:nvPr/>
        </p:nvSpPr>
        <p:spPr>
          <a:xfrm>
            <a:off x="4288536" y="1783080"/>
            <a:ext cx="3611880" cy="54864"/>
          </a:xfrm>
          <a:prstGeom prst="rect">
            <a:avLst/>
          </a:prstGeom>
          <a:solidFill>
            <a:schemeClr val="accent1"/>
          </a:solidFill>
          <a:ln w="12700">
            <a:solidFill>
              <a:schemeClr val="accent1"/>
            </a:solidFill>
            <a:prstDash val="solid"/>
          </a:ln>
        </p:spPr>
      </p:sp>
      <p:sp>
        <p:nvSpPr>
          <p:cNvPr id="13" name="Text 10"/>
          <p:cNvSpPr txBox="1"/>
          <p:nvPr/>
        </p:nvSpPr>
        <p:spPr>
          <a:xfrm>
            <a:off x="4517136" y="1965960"/>
            <a:ext cx="315468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PROBLEM 2 · FORWARD</a:t>
            </a:r>
            <a:endParaRPr lang="en-US" sz="1100" dirty="0"/>
          </a:p>
        </p:txBody>
      </p:sp>
      <p:sp>
        <p:nvSpPr>
          <p:cNvPr id="14" name="Text 11"/>
          <p:cNvSpPr txBox="1"/>
          <p:nvPr/>
        </p:nvSpPr>
        <p:spPr>
          <a:xfrm>
            <a:off x="4517136" y="2276856"/>
            <a:ext cx="3154680" cy="365760"/>
          </a:xfrm>
          <a:prstGeom prst="rect">
            <a:avLst/>
          </a:prstGeom>
          <a:noFill/>
          <a:ln/>
        </p:spPr>
        <p:txBody>
          <a:bodyPr wrap="square" lIns="0" tIns="0" rIns="0" bIns="0" rtlCol="0" anchor="t"/>
          <a:lstStyle/>
          <a:p>
            <a:pPr marL="0" indent="0">
              <a:buNone/>
            </a:pPr>
            <a:r>
              <a:rPr lang="en-US" sz="1700" b="1" dirty="0">
                <a:solidFill>
                  <a:schemeClr val="tx1"/>
                </a:solidFill>
              </a:rPr>
              <a:t>2D steady heat conduction</a:t>
            </a:r>
            <a:endParaRPr lang="en-US" sz="1700" dirty="0"/>
          </a:p>
        </p:txBody>
      </p:sp>
      <p:sp>
        <p:nvSpPr>
          <p:cNvPr id="15" name="Text 12"/>
          <p:cNvSpPr txBox="1"/>
          <p:nvPr/>
        </p:nvSpPr>
        <p:spPr>
          <a:xfrm>
            <a:off x="4517136" y="2697480"/>
            <a:ext cx="3154680" cy="23774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Tₓₓ + Tᵧᵧ + 1 = 0 on [−1, 1]²</a:t>
            </a:r>
            <a:endParaRPr lang="en-US" sz="1400" dirty="0"/>
          </a:p>
          <a:p>
            <a:pPr marL="177800" indent="-177800">
              <a:spcAft>
                <a:spcPts val="500"/>
              </a:spcAft>
              <a:buSzPct val="100000"/>
              <a:buChar char="•"/>
            </a:pPr>
            <a:r>
              <a:rPr lang="en-US" sz="1400" dirty="0">
                <a:solidFill>
                  <a:schemeClr val="tx1"/>
                </a:solidFill>
              </a:rPr>
              <a:t>T = 0 on all four edges (soft penalty)</a:t>
            </a:r>
            <a:endParaRPr lang="en-US" sz="1400" dirty="0"/>
          </a:p>
          <a:p>
            <a:pPr marL="177800" indent="-177800">
              <a:spcAft>
                <a:spcPts val="500"/>
              </a:spcAft>
              <a:buSzPct val="100000"/>
              <a:buChar char="•"/>
            </a:pPr>
            <a:r>
              <a:rPr lang="en-US" sz="1400" dirty="0">
                <a:solidFill>
                  <a:schemeClr val="tx1"/>
                </a:solidFill>
              </a:rPr>
              <a:t>No closed-form solution</a:t>
            </a:r>
            <a:endParaRPr lang="en-US" sz="1400" dirty="0"/>
          </a:p>
          <a:p>
            <a:pPr marL="177800" indent="-177800">
              <a:spcAft>
                <a:spcPts val="500"/>
              </a:spcAft>
              <a:buSzPct val="100000"/>
              <a:buChar char="•"/>
            </a:pPr>
            <a:r>
              <a:rPr lang="en-US" sz="1400" dirty="0">
                <a:solidFill>
                  <a:schemeClr val="tx1"/>
                </a:solidFill>
              </a:rPr>
              <a:t>Reference: finite element (deal.II)</a:t>
            </a:r>
            <a:endParaRPr lang="en-US" sz="1400" dirty="0"/>
          </a:p>
          <a:p>
            <a:pPr marL="177800" indent="-177800">
              <a:spcAft>
                <a:spcPts val="500"/>
              </a:spcAft>
              <a:buSzPct val="100000"/>
              <a:buChar char="•"/>
            </a:pPr>
            <a:r>
              <a:rPr lang="en-US" sz="1400" dirty="0">
                <a:solidFill>
                  <a:schemeClr val="tx1"/>
                </a:solidFill>
              </a:rPr>
              <a:t>4 × 50 net · 1500 / 500 points</a:t>
            </a:r>
            <a:endParaRPr lang="en-US" sz="1400" dirty="0"/>
          </a:p>
        </p:txBody>
      </p:sp>
      <p:sp>
        <p:nvSpPr>
          <p:cNvPr id="16" name="PROBLEM 3 · INVERSE box"/>
          <p:cNvSpPr/>
          <p:nvPr/>
        </p:nvSpPr>
        <p:spPr>
          <a:xfrm>
            <a:off x="8119872" y="1783080"/>
            <a:ext cx="3611880" cy="3429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7" name="PROBLEM 3 · INVERSE top"/>
          <p:cNvSpPr/>
          <p:nvPr/>
        </p:nvSpPr>
        <p:spPr>
          <a:xfrm>
            <a:off x="8119872" y="1783080"/>
            <a:ext cx="3611880" cy="54864"/>
          </a:xfrm>
          <a:prstGeom prst="rect">
            <a:avLst/>
          </a:prstGeom>
          <a:solidFill>
            <a:schemeClr val="accent2"/>
          </a:solidFill>
          <a:ln w="12700">
            <a:solidFill>
              <a:schemeClr val="accent2"/>
            </a:solidFill>
            <a:prstDash val="solid"/>
          </a:ln>
        </p:spPr>
      </p:sp>
      <p:sp>
        <p:nvSpPr>
          <p:cNvPr id="18" name="Text 15"/>
          <p:cNvSpPr txBox="1"/>
          <p:nvPr/>
        </p:nvSpPr>
        <p:spPr>
          <a:xfrm>
            <a:off x="8348472" y="1965960"/>
            <a:ext cx="3154680"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PROBLEM 3 · INVERSE</a:t>
            </a:r>
            <a:endParaRPr lang="en-US" sz="1100" dirty="0"/>
          </a:p>
        </p:txBody>
      </p:sp>
      <p:sp>
        <p:nvSpPr>
          <p:cNvPr id="19" name="Text 16"/>
          <p:cNvSpPr txBox="1"/>
          <p:nvPr/>
        </p:nvSpPr>
        <p:spPr>
          <a:xfrm>
            <a:off x="8348472" y="2276856"/>
            <a:ext cx="3154680" cy="365760"/>
          </a:xfrm>
          <a:prstGeom prst="rect">
            <a:avLst/>
          </a:prstGeom>
          <a:noFill/>
          <a:ln/>
        </p:spPr>
        <p:txBody>
          <a:bodyPr wrap="square" lIns="0" tIns="0" rIns="0" bIns="0" rtlCol="0" anchor="t"/>
          <a:lstStyle/>
          <a:p>
            <a:pPr marL="0" indent="0">
              <a:buNone/>
            </a:pPr>
            <a:r>
              <a:rPr lang="en-US" sz="1700" b="1" dirty="0">
                <a:solidFill>
                  <a:schemeClr val="tx1"/>
                </a:solidFill>
              </a:rPr>
              <a:t>Damped spring-mass</a:t>
            </a:r>
            <a:endParaRPr lang="en-US" sz="1700" dirty="0"/>
          </a:p>
        </p:txBody>
      </p:sp>
      <p:sp>
        <p:nvSpPr>
          <p:cNvPr id="20" name="Text 17"/>
          <p:cNvSpPr txBox="1"/>
          <p:nvPr/>
        </p:nvSpPr>
        <p:spPr>
          <a:xfrm>
            <a:off x="8348472" y="2697480"/>
            <a:ext cx="3154680" cy="23774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u″ + c u′ + k u = 0, u(0) = 1, u′(0) = 1</a:t>
            </a:r>
            <a:endParaRPr lang="en-US" sz="1400" dirty="0"/>
          </a:p>
          <a:p>
            <a:pPr marL="177800" indent="-177800">
              <a:spcAft>
                <a:spcPts val="500"/>
              </a:spcAft>
              <a:buSzPct val="100000"/>
              <a:buChar char="•"/>
            </a:pPr>
            <a:r>
              <a:rPr lang="en-US" sz="1400" dirty="0">
                <a:solidFill>
                  <a:schemeClr val="tx1"/>
                </a:solidFill>
              </a:rPr>
              <a:t>Find c and k from 50 observations</a:t>
            </a:r>
            <a:endParaRPr lang="en-US" sz="1400" dirty="0"/>
          </a:p>
          <a:p>
            <a:pPr marL="177800" indent="-177800">
              <a:spcAft>
                <a:spcPts val="500"/>
              </a:spcAft>
              <a:buSzPct val="100000"/>
              <a:buChar char="•"/>
            </a:pPr>
            <a:r>
              <a:rPr lang="en-US" sz="1400" dirty="0">
                <a:solidFill>
                  <a:schemeClr val="tx1"/>
                </a:solidFill>
              </a:rPr>
              <a:t>True c = 0.4, k = 4</a:t>
            </a:r>
            <a:endParaRPr lang="en-US" sz="1400" dirty="0"/>
          </a:p>
          <a:p>
            <a:pPr marL="177800" indent="-177800">
              <a:spcAft>
                <a:spcPts val="500"/>
              </a:spcAft>
              <a:buSzPct val="100000"/>
              <a:buChar char="•"/>
            </a:pPr>
            <a:r>
              <a:rPr lang="en-US" sz="1400" dirty="0">
                <a:solidFill>
                  <a:schemeClr val="tx1"/>
                </a:solidFill>
              </a:rPr>
              <a:t>Paper: c = 0.40125, k = 3.99332</a:t>
            </a:r>
            <a:endParaRPr lang="en-US" sz="1400" dirty="0"/>
          </a:p>
          <a:p>
            <a:pPr marL="177800" indent="-177800">
              <a:spcAft>
                <a:spcPts val="500"/>
              </a:spcAft>
              <a:buSzPct val="100000"/>
              <a:buChar char="•"/>
            </a:pPr>
            <a:r>
              <a:rPr lang="en-US" sz="1400" dirty="0">
                <a:solidFill>
                  <a:schemeClr val="tx1"/>
                </a:solidFill>
              </a:rPr>
              <a:t>3 × 32 net · Adam only, 100k epochs</a:t>
            </a:r>
            <a:endParaRPr lang="en-US" sz="1400" dirty="0"/>
          </a:p>
        </p:txBody>
      </p:sp>
      <p:sp>
        <p:nvSpPr>
          <p:cNvPr id="21" name="Callout"/>
          <p:cNvSpPr/>
          <p:nvPr/>
        </p:nvSpPr>
        <p:spPr>
          <a:xfrm>
            <a:off x="457200" y="5440680"/>
            <a:ext cx="11274552" cy="868680"/>
          </a:xfrm>
          <a:prstGeom prst="rect">
            <a:avLst/>
          </a:prstGeom>
          <a:solidFill>
            <a:schemeClr val="bg2"/>
          </a:solidFill>
          <a:ln w="9525">
            <a:solidFill>
              <a:srgbClr val="D8E6F5"/>
            </a:solidFill>
            <a:prstDash val="solid"/>
          </a:ln>
        </p:spPr>
      </p:sp>
      <p:sp>
        <p:nvSpPr>
          <p:cNvPr id="22" name="Text 19"/>
          <p:cNvSpPr txBox="1"/>
          <p:nvPr/>
        </p:nvSpPr>
        <p:spPr>
          <a:xfrm>
            <a:off x="685800" y="5440680"/>
            <a:ext cx="10817352" cy="868680"/>
          </a:xfrm>
          <a:prstGeom prst="rect">
            <a:avLst/>
          </a:prstGeom>
          <a:noFill/>
          <a:ln/>
        </p:spPr>
        <p:txBody>
          <a:bodyPr wrap="square" lIns="0" tIns="0" rIns="0" bIns="0" rtlCol="0" anchor="ctr"/>
          <a:lstStyle/>
          <a:p>
            <a:pPr marL="0" indent="0">
              <a:buNone/>
            </a:pPr>
            <a:r>
              <a:rPr lang="en-US" sz="1500" b="1" dirty="0">
                <a:solidFill>
                  <a:schemeClr val="accent1"/>
                </a:solidFill>
              </a:rPr>
              <a:t>Training recipe:  </a:t>
            </a:r>
            <a:r>
              <a:rPr lang="en-US" sz="1500" dirty="0">
                <a:solidFill>
                  <a:schemeClr val="tx1"/>
                </a:solidFill>
              </a:rPr>
              <a:t>Glorot initialisation, Adam (50k epochs, lr 1e-3 or 5e-4) then L-BFGS until convergence, fixed loss weights, about 10,000 test points per problem.</a:t>
            </a:r>
            <a:endParaRPr lang="en-US" sz="15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Our implementation</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Written from scratch in PyTorch, with every setting from the paper</a:t>
            </a:r>
            <a:endParaRPr lang="en-US" sz="1500" dirty="0"/>
          </a:p>
        </p:txBody>
      </p:sp>
      <p:sp>
        <p:nvSpPr>
          <p:cNvPr id="6" name="Repo tree box"/>
          <p:cNvSpPr/>
          <p:nvPr/>
        </p:nvSpPr>
        <p:spPr>
          <a:xfrm>
            <a:off x="457200" y="1783080"/>
            <a:ext cx="4206240" cy="4526280"/>
          </a:xfrm>
          <a:prstGeom prst="roundRect">
            <a:avLst>
              <a:gd name="adj" fmla="val 1739"/>
            </a:avLst>
          </a:prstGeom>
          <a:solidFill>
            <a:schemeClr val="tx1"/>
          </a:solidFill>
          <a:ln w="12700">
            <a:solidFill>
              <a:schemeClr val="tx1"/>
            </a:solidFill>
            <a:prstDash val="solid"/>
          </a:ln>
        </p:spPr>
      </p:sp>
      <p:sp>
        <p:nvSpPr>
          <p:cNvPr id="7" name="Text 4"/>
          <p:cNvSpPr txBox="1"/>
          <p:nvPr/>
        </p:nvSpPr>
        <p:spPr>
          <a:xfrm>
            <a:off x="640080" y="1965960"/>
            <a:ext cx="3931920" cy="4251960"/>
          </a:xfrm>
          <a:prstGeom prst="rect">
            <a:avLst/>
          </a:prstGeom>
          <a:noFill/>
          <a:ln/>
        </p:spPr>
        <p:txBody>
          <a:bodyPr wrap="square" lIns="0" tIns="0" rIns="0" bIns="0" rtlCol="0" anchor="t"/>
          <a:lstStyle/>
          <a:p>
            <a:pPr marL="0" indent="0">
              <a:buNone/>
            </a:pPr>
            <a:r>
              <a:rPr lang="en-US" sz="1400" b="1" dirty="0">
                <a:solidFill>
                  <a:srgbClr val="C9D6E4"/>
                </a:solidFill>
                <a:latin typeface="Courier New" pitchFamily="34" charset="0"/>
                <a:ea typeface="Courier New" pitchFamily="34" charset="-122"/>
                <a:cs typeface="Courier New" pitchFamily="34" charset="-120"/>
              </a:rPr>
              <a:t>pinn-mechanics/</a:t>
            </a:r>
            <a:endParaRPr lang="en-US" sz="1400" dirty="0"/>
          </a:p>
          <a:p>
            <a:pPr marL="0" indent="0">
              <a:buNone/>
            </a:pPr>
            <a:r>
              <a:rPr lang="en-US" sz="1400" b="1" dirty="0">
                <a:solidFill>
                  <a:srgbClr val="FFFFFF"/>
                </a:solidFill>
                <a:latin typeface="Courier New" pitchFamily="34" charset="0"/>
                <a:ea typeface="Courier New" pitchFamily="34" charset="-122"/>
                <a:cs typeface="Courier New" pitchFamily="34" charset="-120"/>
              </a:rPr>
              <a:t>  src/</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model.py        network</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trainer.py      Adam → L-BFGS</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references.py   true answers</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plotting.py · utils.py</a:t>
            </a:r>
            <a:endParaRPr lang="en-US" sz="1400" dirty="0"/>
          </a:p>
          <a:p>
            <a:pPr marL="0" indent="0">
              <a:buNone/>
            </a:pPr>
            <a:r>
              <a:rPr lang="en-US" sz="1400" b="1" dirty="0">
                <a:solidFill>
                  <a:srgbClr val="FFFFFF"/>
                </a:solidFill>
                <a:latin typeface="Courier New" pitchFamily="34" charset="0"/>
                <a:ea typeface="Courier New" pitchFamily="34" charset="-122"/>
                <a:cs typeface="Courier New" pitchFamily="34" charset="-120"/>
              </a:rPr>
              <a:t>  experiments/</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consolidation.py  heat.py</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spring_inverse.py</a:t>
            </a:r>
            <a:endParaRPr lang="en-US" sz="1400" dirty="0"/>
          </a:p>
          <a:p>
            <a:pPr marL="0" indent="0">
              <a:buNone/>
            </a:pPr>
            <a:r>
              <a:rPr lang="en-US" sz="1400" dirty="0">
                <a:solidFill>
                  <a:srgbClr val="7FD1A1"/>
                </a:solidFill>
                <a:latin typeface="Courier New" pitchFamily="34" charset="0"/>
                <a:ea typeface="Courier New" pitchFamily="34" charset="-122"/>
                <a:cs typeface="Courier New" pitchFamily="34" charset="-120"/>
              </a:rPr>
              <a:t>    heat_improved.py      Fix 1</a:t>
            </a:r>
            <a:endParaRPr lang="en-US" sz="1400" dirty="0"/>
          </a:p>
          <a:p>
            <a:pPr marL="0" indent="0">
              <a:buNone/>
            </a:pPr>
            <a:r>
              <a:rPr lang="en-US" sz="1400" dirty="0">
                <a:solidFill>
                  <a:srgbClr val="7FD1A1"/>
                </a:solidFill>
                <a:latin typeface="Courier New" pitchFamily="34" charset="0"/>
                <a:ea typeface="Courier New" pitchFamily="34" charset="-122"/>
                <a:cs typeface="Courier New" pitchFamily="34" charset="-120"/>
              </a:rPr>
              <a:t>    consolidation_rar.py  Fix 2</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run_all.py · run_part2.py</a:t>
            </a:r>
            <a:endParaRPr lang="en-US" sz="1400" dirty="0"/>
          </a:p>
          <a:p>
            <a:pPr marL="0" indent="0">
              <a:buNone/>
            </a:pPr>
            <a:r>
              <a:rPr lang="en-US" sz="1400" dirty="0">
                <a:solidFill>
                  <a:srgbClr val="C9D6E4"/>
                </a:solidFill>
                <a:latin typeface="Courier New" pitchFamily="34" charset="0"/>
                <a:ea typeface="Courier New" pitchFamily="34" charset="-122"/>
                <a:cs typeface="Courier New" pitchFamily="34" charset="-120"/>
              </a:rPr>
              <a:t>  results/  README.md</a:t>
            </a:r>
            <a:endParaRPr lang="en-US" sz="1400" dirty="0"/>
          </a:p>
        </p:txBody>
      </p:sp>
      <p:sp>
        <p:nvSpPr>
          <p:cNvPr id="8" name="DATA  ·  NO DOWNLOAD NEEDED box"/>
          <p:cNvSpPr/>
          <p:nvPr/>
        </p:nvSpPr>
        <p:spPr>
          <a:xfrm>
            <a:off x="4892040" y="1783080"/>
            <a:ext cx="6839712" cy="14173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9" name="DATA  ·  NO DOWNLOAD NEEDED top"/>
          <p:cNvSpPr/>
          <p:nvPr/>
        </p:nvSpPr>
        <p:spPr>
          <a:xfrm>
            <a:off x="4892040" y="1783080"/>
            <a:ext cx="6839712" cy="54864"/>
          </a:xfrm>
          <a:prstGeom prst="rect">
            <a:avLst/>
          </a:prstGeom>
          <a:solidFill>
            <a:schemeClr val="accent1"/>
          </a:solidFill>
          <a:ln w="12700">
            <a:solidFill>
              <a:schemeClr val="accent1"/>
            </a:solidFill>
            <a:prstDash val="solid"/>
          </a:ln>
        </p:spPr>
      </p:sp>
      <p:sp>
        <p:nvSpPr>
          <p:cNvPr id="10" name="Text 7"/>
          <p:cNvSpPr txBox="1"/>
          <p:nvPr/>
        </p:nvSpPr>
        <p:spPr>
          <a:xfrm>
            <a:off x="5120640" y="1965960"/>
            <a:ext cx="6382512"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DATA  ·  NO DOWNLOAD NEEDED</a:t>
            </a:r>
            <a:endParaRPr lang="en-US" sz="1100" dirty="0"/>
          </a:p>
        </p:txBody>
      </p:sp>
      <p:sp>
        <p:nvSpPr>
          <p:cNvPr id="11" name="Text 8"/>
          <p:cNvSpPr txBox="1"/>
          <p:nvPr/>
        </p:nvSpPr>
        <p:spPr>
          <a:xfrm>
            <a:off x="5120640" y="2276856"/>
            <a:ext cx="6382512" cy="78638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Training points are random locations in each domain, drawn with a fixed seed. For the inverse problem, 50 synthetic observations come from the exact solution with c = 0.4, k = 4.</a:t>
            </a:r>
            <a:endParaRPr lang="en-US" sz="1400" dirty="0"/>
          </a:p>
        </p:txBody>
      </p:sp>
      <p:sp>
        <p:nvSpPr>
          <p:cNvPr id="12" name="REFERENCE SOLUTIONS box"/>
          <p:cNvSpPr/>
          <p:nvPr/>
        </p:nvSpPr>
        <p:spPr>
          <a:xfrm>
            <a:off x="4892040" y="3337560"/>
            <a:ext cx="6839712" cy="14173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3" name="REFERENCE SOLUTIONS top"/>
          <p:cNvSpPr/>
          <p:nvPr/>
        </p:nvSpPr>
        <p:spPr>
          <a:xfrm>
            <a:off x="4892040" y="3337560"/>
            <a:ext cx="6839712" cy="54864"/>
          </a:xfrm>
          <a:prstGeom prst="rect">
            <a:avLst/>
          </a:prstGeom>
          <a:solidFill>
            <a:schemeClr val="accent1"/>
          </a:solidFill>
          <a:ln w="12700">
            <a:solidFill>
              <a:schemeClr val="accent1"/>
            </a:solidFill>
            <a:prstDash val="solid"/>
          </a:ln>
        </p:spPr>
      </p:sp>
      <p:sp>
        <p:nvSpPr>
          <p:cNvPr id="14" name="Text 11"/>
          <p:cNvSpPr txBox="1"/>
          <p:nvPr/>
        </p:nvSpPr>
        <p:spPr>
          <a:xfrm>
            <a:off x="5120640" y="3520440"/>
            <a:ext cx="6382512"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REFERENCE SOLUTIONS</a:t>
            </a:r>
            <a:endParaRPr lang="en-US" sz="1100" dirty="0"/>
          </a:p>
        </p:txBody>
      </p:sp>
      <p:sp>
        <p:nvSpPr>
          <p:cNvPr id="15" name="Text 12"/>
          <p:cNvSpPr txBox="1"/>
          <p:nvPr/>
        </p:nvSpPr>
        <p:spPr>
          <a:xfrm>
            <a:off x="5120640" y="3831336"/>
            <a:ext cx="6382512" cy="78638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Exact series (consolidation) and exact formula (spring). For heat, our own finite-difference solver on a 201 × 201 grid, checked to about 4 × 10⁻⁶ by grid refinement.</a:t>
            </a:r>
            <a:endParaRPr lang="en-US" sz="1400" dirty="0"/>
          </a:p>
        </p:txBody>
      </p:sp>
      <p:sp>
        <p:nvSpPr>
          <p:cNvPr id="16" name="EVALUATION box"/>
          <p:cNvSpPr/>
          <p:nvPr/>
        </p:nvSpPr>
        <p:spPr>
          <a:xfrm>
            <a:off x="4892040" y="4892040"/>
            <a:ext cx="6839712" cy="14173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7" name="EVALUATION top"/>
          <p:cNvSpPr/>
          <p:nvPr/>
        </p:nvSpPr>
        <p:spPr>
          <a:xfrm>
            <a:off x="4892040" y="4892040"/>
            <a:ext cx="6839712" cy="54864"/>
          </a:xfrm>
          <a:prstGeom prst="rect">
            <a:avLst/>
          </a:prstGeom>
          <a:solidFill>
            <a:schemeClr val="accent2"/>
          </a:solidFill>
          <a:ln w="12700">
            <a:solidFill>
              <a:schemeClr val="accent2"/>
            </a:solidFill>
            <a:prstDash val="solid"/>
          </a:ln>
        </p:spPr>
      </p:sp>
      <p:sp>
        <p:nvSpPr>
          <p:cNvPr id="18" name="Text 15"/>
          <p:cNvSpPr txBox="1"/>
          <p:nvPr/>
        </p:nvSpPr>
        <p:spPr>
          <a:xfrm>
            <a:off x="5120640" y="5074920"/>
            <a:ext cx="6382512"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EVALUATION</a:t>
            </a:r>
            <a:endParaRPr lang="en-US" sz="1100" dirty="0"/>
          </a:p>
        </p:txBody>
      </p:sp>
      <p:sp>
        <p:nvSpPr>
          <p:cNvPr id="19" name="Text 16"/>
          <p:cNvSpPr txBox="1"/>
          <p:nvPr/>
        </p:nvSpPr>
        <p:spPr>
          <a:xfrm>
            <a:off x="5120640" y="5385816"/>
            <a:ext cx="6382512" cy="786384"/>
          </a:xfrm>
          <a:prstGeom prst="rect">
            <a:avLst/>
          </a:prstGeom>
          <a:noFill/>
          <a:ln/>
        </p:spPr>
        <p:txBody>
          <a:bodyPr wrap="square" lIns="0" tIns="0" rIns="0" bIns="0" rtlCol="0" anchor="t"/>
          <a:lstStyle/>
          <a:p>
            <a:pPr marL="0" indent="0">
              <a:spcAft>
                <a:spcPts val="500"/>
              </a:spcAft>
              <a:buNone/>
            </a:pPr>
            <a:r>
              <a:rPr lang="en-US" sz="1400" dirty="0">
                <a:solidFill>
                  <a:schemeClr val="tx1"/>
                </a:solidFill>
              </a:rPr>
              <a:t>Relative L2 error on about 10,000 test points, max and boundary error, PDE test residual, identified c and k. Fixed seeds give bit-identical reruns.</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Part 1: the paper, reproduced</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All three problems at the paper's full settings, compared with the paper's reported results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3072384"/>
        </p:xfrm>
        <a:graphic>
          <a:graphicData uri="http://schemas.openxmlformats.org/drawingml/2006/table">
            <a:tbl>
              <a:tblPr/>
              <a:tblGrid>
                <a:gridCol w="18288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3730752">
                  <a:extLst>
                    <a:ext uri="{9D8B030D-6E8A-4147-A177-3AD203B41FA5}">
                      <a16:colId xmlns:a16="http://schemas.microsoft.com/office/drawing/2014/main" val="20004"/>
                    </a:ext>
                  </a:extLst>
                </a:gridCol>
              </a:tblGrid>
              <a:tr h="512064">
                <a:tc>
                  <a:txBody>
                    <a:bodyPr/>
                    <a:lstStyle/>
                    <a:p>
                      <a:pPr marL="0" indent="0">
                        <a:buNone/>
                      </a:pPr>
                      <a:r>
                        <a:rPr lang="en-US" sz="1400" b="1" dirty="0">
                          <a:solidFill>
                            <a:srgbClr val="FFFFFF"/>
                          </a:solidFill>
                        </a:rPr>
                        <a:t>Problem</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buNone/>
                      </a:pPr>
                      <a:r>
                        <a:rPr lang="en-US" sz="1400" b="1" dirty="0">
                          <a:solidFill>
                            <a:srgbClr val="FFFFFF"/>
                          </a:solidFill>
                        </a:rPr>
                        <a:t>Metric</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buNone/>
                      </a:pPr>
                      <a:r>
                        <a:rPr lang="en-US" sz="1400" b="1" dirty="0">
                          <a:solidFill>
                            <a:srgbClr val="FFFFFF"/>
                          </a:solidFill>
                        </a:rPr>
                        <a:t>Paper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buNone/>
                      </a:pPr>
                      <a:r>
                        <a:rPr lang="en-US" sz="1400" b="1" dirty="0">
                          <a:solidFill>
                            <a:srgbClr val="FFFFFF"/>
                          </a:solidFill>
                        </a:rPr>
                        <a:t>Ours</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buNone/>
                      </a:pPr>
                      <a:r>
                        <a:rPr lang="en-US" sz="1400" b="1" dirty="0">
                          <a:solidFill>
                            <a:srgbClr val="FFFFFF"/>
                          </a:solidFill>
                        </a:rPr>
                        <a:t>Agreement</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extLst>
                  <a:ext uri="{0D108BD9-81ED-4DB2-BD59-A6C34878D82A}">
                    <a16:rowId xmlns:a16="http://schemas.microsoft.com/office/drawing/2014/main" val="10000"/>
                  </a:ext>
                </a:extLst>
              </a:tr>
              <a:tr h="512064">
                <a:tc>
                  <a:txBody>
                    <a:bodyPr/>
                    <a:lstStyle/>
                    <a:p>
                      <a:pPr marL="0" indent="0">
                        <a:buNone/>
                      </a:pPr>
                      <a:r>
                        <a:rPr lang="en-US" sz="1400" b="1" dirty="0">
                          <a:solidFill>
                            <a:srgbClr val="0D1B2A"/>
                          </a:solidFill>
                        </a:rPr>
                        <a:t>1. Consolidation</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Relative L2 error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“perfect match”</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1.29 %</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1E7A46"/>
                          </a:solidFill>
                        </a:rPr>
                        <a:t>Yes: largest error near the origin, as in the paper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1400" b="1" dirty="0">
                          <a:solidFill>
                            <a:srgbClr val="0D1B2A"/>
                          </a:solidFill>
                        </a:rPr>
                        <a:t>2. Heat</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Relative L2 error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consistent with FEM</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0.90 %</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1E7A46"/>
                          </a:solidFill>
                        </a:rPr>
                        <a:t>Yes: largest error on the boundary, as in the paper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Max error</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 5 × 10⁻³ (Fig. 3)</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1.2 × 10⁻²</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Close: paper also forced T &gt; 0 (method not given)</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400" b="1" dirty="0">
                          <a:solidFill>
                            <a:srgbClr val="0D1B2A"/>
                          </a:solidFill>
                        </a:rPr>
                        <a:t>3. Spring</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Damping c  (true 0.4)</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0.40125</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0.4115</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1E7A46"/>
                          </a:solidFill>
                        </a:rPr>
                        <a:t>Yes: 2.9 % from the true value</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Stiffness k  (true 4)</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dirty="0">
                          <a:solidFill>
                            <a:srgbClr val="0D1B2A"/>
                          </a:solidFill>
                        </a:rPr>
                        <a:t>3.99332</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0D1B2A"/>
                          </a:solidFill>
                        </a:rPr>
                        <a:t>3.9904</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buNone/>
                      </a:pPr>
                      <a:r>
                        <a:rPr lang="en-US" sz="1400" b="1" dirty="0">
                          <a:solidFill>
                            <a:srgbClr val="1E7A46"/>
                          </a:solidFill>
                        </a:rPr>
                        <a:t>Yes: 0.24 % from the true value</a:t>
                      </a:r>
                      <a:endParaRPr lang="en-US" sz="1400" dirty="0"/>
                    </a:p>
                  </a:txBody>
                  <a:tcPr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tat 1.29 %"/>
          <p:cNvSpPr/>
          <p:nvPr/>
        </p:nvSpPr>
        <p:spPr>
          <a:xfrm>
            <a:off x="457200" y="5120640"/>
            <a:ext cx="2697480" cy="11887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8" name="Text 4"/>
          <p:cNvSpPr txBox="1"/>
          <p:nvPr/>
        </p:nvSpPr>
        <p:spPr>
          <a:xfrm>
            <a:off x="594360" y="5193792"/>
            <a:ext cx="2423160" cy="653796"/>
          </a:xfrm>
          <a:prstGeom prst="rect">
            <a:avLst/>
          </a:prstGeom>
          <a:noFill/>
          <a:ln/>
        </p:spPr>
        <p:txBody>
          <a:bodyPr wrap="square" lIns="0" tIns="0" rIns="0" bIns="0" rtlCol="0" anchor="ctr"/>
          <a:lstStyle/>
          <a:p>
            <a:pPr marL="0" indent="0" algn="ctr">
              <a:buNone/>
            </a:pPr>
            <a:r>
              <a:rPr lang="en-US" sz="3600" b="1" dirty="0">
                <a:solidFill>
                  <a:schemeClr val="accent1"/>
                </a:solidFill>
              </a:rPr>
              <a:t>1.29 %</a:t>
            </a:r>
            <a:endParaRPr lang="en-US" sz="3600" dirty="0"/>
          </a:p>
        </p:txBody>
      </p:sp>
      <p:sp>
        <p:nvSpPr>
          <p:cNvPr id="2" name="Text 5"/>
          <p:cNvSpPr txBox="1"/>
          <p:nvPr/>
        </p:nvSpPr>
        <p:spPr>
          <a:xfrm>
            <a:off x="594360" y="5810098"/>
            <a:ext cx="2423160" cy="451714"/>
          </a:xfrm>
          <a:prstGeom prst="rect">
            <a:avLst/>
          </a:prstGeom>
          <a:noFill/>
          <a:ln/>
        </p:spPr>
        <p:txBody>
          <a:bodyPr wrap="square" lIns="0" tIns="0" rIns="0" bIns="0" rtlCol="0" anchor="t"/>
          <a:lstStyle/>
          <a:p>
            <a:pPr marL="0" indent="0" algn="ctr">
              <a:buNone/>
            </a:pPr>
            <a:r>
              <a:rPr lang="en-US" sz="1300" dirty="0">
                <a:solidFill>
                  <a:schemeClr val="accent4"/>
                </a:solidFill>
              </a:rPr>
              <a:t>consolidation error</a:t>
            </a:r>
            <a:endParaRPr lang="en-US" sz="1300" dirty="0"/>
          </a:p>
        </p:txBody>
      </p:sp>
      <p:sp>
        <p:nvSpPr>
          <p:cNvPr id="10" name="Stat 0.90 %"/>
          <p:cNvSpPr/>
          <p:nvPr/>
        </p:nvSpPr>
        <p:spPr>
          <a:xfrm>
            <a:off x="3319272" y="5120640"/>
            <a:ext cx="2697480" cy="11887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1" name="Text 7"/>
          <p:cNvSpPr txBox="1"/>
          <p:nvPr/>
        </p:nvSpPr>
        <p:spPr>
          <a:xfrm>
            <a:off x="3456432" y="5193792"/>
            <a:ext cx="2423160" cy="653796"/>
          </a:xfrm>
          <a:prstGeom prst="rect">
            <a:avLst/>
          </a:prstGeom>
          <a:noFill/>
          <a:ln/>
        </p:spPr>
        <p:txBody>
          <a:bodyPr wrap="square" lIns="0" tIns="0" rIns="0" bIns="0" rtlCol="0" anchor="ctr"/>
          <a:lstStyle/>
          <a:p>
            <a:pPr marL="0" indent="0" algn="ctr">
              <a:buNone/>
            </a:pPr>
            <a:r>
              <a:rPr lang="en-US" sz="3600" b="1" dirty="0">
                <a:solidFill>
                  <a:schemeClr val="accent1"/>
                </a:solidFill>
              </a:rPr>
              <a:t>0.90 %</a:t>
            </a:r>
            <a:endParaRPr lang="en-US" sz="3600" dirty="0"/>
          </a:p>
        </p:txBody>
      </p:sp>
      <p:sp>
        <p:nvSpPr>
          <p:cNvPr id="12" name="Text 8"/>
          <p:cNvSpPr txBox="1"/>
          <p:nvPr/>
        </p:nvSpPr>
        <p:spPr>
          <a:xfrm>
            <a:off x="3456432" y="5810098"/>
            <a:ext cx="2423160" cy="451714"/>
          </a:xfrm>
          <a:prstGeom prst="rect">
            <a:avLst/>
          </a:prstGeom>
          <a:noFill/>
          <a:ln/>
        </p:spPr>
        <p:txBody>
          <a:bodyPr wrap="square" lIns="0" tIns="0" rIns="0" bIns="0" rtlCol="0" anchor="t"/>
          <a:lstStyle/>
          <a:p>
            <a:pPr marL="0" indent="0" algn="ctr">
              <a:buNone/>
            </a:pPr>
            <a:r>
              <a:rPr lang="en-US" sz="1300" dirty="0">
                <a:solidFill>
                  <a:schemeClr val="accent4"/>
                </a:solidFill>
              </a:rPr>
              <a:t>heat error</a:t>
            </a:r>
            <a:endParaRPr lang="en-US" sz="1300" dirty="0"/>
          </a:p>
        </p:txBody>
      </p:sp>
      <p:sp>
        <p:nvSpPr>
          <p:cNvPr id="13" name="Stat 0.24 %"/>
          <p:cNvSpPr/>
          <p:nvPr/>
        </p:nvSpPr>
        <p:spPr>
          <a:xfrm>
            <a:off x="6181344" y="5120640"/>
            <a:ext cx="2697480" cy="11887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4" name="Text 10"/>
          <p:cNvSpPr txBox="1"/>
          <p:nvPr/>
        </p:nvSpPr>
        <p:spPr>
          <a:xfrm>
            <a:off x="6318504" y="5193792"/>
            <a:ext cx="2423160" cy="653796"/>
          </a:xfrm>
          <a:prstGeom prst="rect">
            <a:avLst/>
          </a:prstGeom>
          <a:noFill/>
          <a:ln/>
        </p:spPr>
        <p:txBody>
          <a:bodyPr wrap="square" lIns="0" tIns="0" rIns="0" bIns="0" rtlCol="0" anchor="ctr"/>
          <a:lstStyle/>
          <a:p>
            <a:pPr marL="0" indent="0" algn="ctr">
              <a:buNone/>
            </a:pPr>
            <a:r>
              <a:rPr lang="en-US" sz="3600" b="1" dirty="0">
                <a:solidFill>
                  <a:schemeClr val="accent2"/>
                </a:solidFill>
              </a:rPr>
              <a:t>0.24 %</a:t>
            </a:r>
            <a:endParaRPr lang="en-US" sz="3600" dirty="0"/>
          </a:p>
        </p:txBody>
      </p:sp>
      <p:sp>
        <p:nvSpPr>
          <p:cNvPr id="15" name="Text 11"/>
          <p:cNvSpPr txBox="1"/>
          <p:nvPr/>
        </p:nvSpPr>
        <p:spPr>
          <a:xfrm>
            <a:off x="6318504" y="5810098"/>
            <a:ext cx="2423160" cy="451714"/>
          </a:xfrm>
          <a:prstGeom prst="rect">
            <a:avLst/>
          </a:prstGeom>
          <a:noFill/>
          <a:ln/>
        </p:spPr>
        <p:txBody>
          <a:bodyPr wrap="square" lIns="0" tIns="0" rIns="0" bIns="0" rtlCol="0" anchor="t"/>
          <a:lstStyle/>
          <a:p>
            <a:pPr marL="0" indent="0" algn="ctr">
              <a:buNone/>
            </a:pPr>
            <a:r>
              <a:rPr lang="en-US" sz="1300" dirty="0">
                <a:solidFill>
                  <a:schemeClr val="accent4"/>
                </a:solidFill>
              </a:rPr>
              <a:t>error in k</a:t>
            </a:r>
            <a:endParaRPr lang="en-US" sz="1300" dirty="0"/>
          </a:p>
        </p:txBody>
      </p:sp>
      <p:sp>
        <p:nvSpPr>
          <p:cNvPr id="16" name="Stat 2.9 %"/>
          <p:cNvSpPr/>
          <p:nvPr/>
        </p:nvSpPr>
        <p:spPr>
          <a:xfrm>
            <a:off x="9034272" y="5120640"/>
            <a:ext cx="2697480" cy="11887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7" name="Text 13"/>
          <p:cNvSpPr txBox="1"/>
          <p:nvPr/>
        </p:nvSpPr>
        <p:spPr>
          <a:xfrm>
            <a:off x="9171432" y="5193792"/>
            <a:ext cx="2423160" cy="653796"/>
          </a:xfrm>
          <a:prstGeom prst="rect">
            <a:avLst/>
          </a:prstGeom>
          <a:noFill/>
          <a:ln/>
        </p:spPr>
        <p:txBody>
          <a:bodyPr wrap="square" lIns="0" tIns="0" rIns="0" bIns="0" rtlCol="0" anchor="ctr"/>
          <a:lstStyle/>
          <a:p>
            <a:pPr marL="0" indent="0" algn="ctr">
              <a:buNone/>
            </a:pPr>
            <a:r>
              <a:rPr lang="en-US" sz="3600" b="1" dirty="0">
                <a:solidFill>
                  <a:schemeClr val="accent2"/>
                </a:solidFill>
              </a:rPr>
              <a:t>2.9 %</a:t>
            </a:r>
            <a:endParaRPr lang="en-US" sz="3600" dirty="0"/>
          </a:p>
        </p:txBody>
      </p:sp>
      <p:sp>
        <p:nvSpPr>
          <p:cNvPr id="18" name="Text 14"/>
          <p:cNvSpPr txBox="1"/>
          <p:nvPr/>
        </p:nvSpPr>
        <p:spPr>
          <a:xfrm>
            <a:off x="9171432" y="5810098"/>
            <a:ext cx="2423160" cy="451714"/>
          </a:xfrm>
          <a:prstGeom prst="rect">
            <a:avLst/>
          </a:prstGeom>
          <a:noFill/>
          <a:ln/>
        </p:spPr>
        <p:txBody>
          <a:bodyPr wrap="square" lIns="0" tIns="0" rIns="0" bIns="0" rtlCol="0" anchor="t"/>
          <a:lstStyle/>
          <a:p>
            <a:pPr marL="0" indent="0" algn="ctr">
              <a:buNone/>
            </a:pPr>
            <a:r>
              <a:rPr lang="en-US" sz="1300" dirty="0">
                <a:solidFill>
                  <a:schemeClr val="accent4"/>
                </a:solidFill>
              </a:rPr>
              <a:t>error in c</a:t>
            </a:r>
            <a:endParaRPr lang="en-US" sz="13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Part 1: where the errors are</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Our figures, from the final full run</a:t>
            </a:r>
            <a:endParaRPr lang="en-US" sz="1500" dirty="0"/>
          </a:p>
        </p:txBody>
      </p:sp>
      <p:sp>
        <p:nvSpPr>
          <p:cNvPr id="6" name="Figure card Consolidation"/>
          <p:cNvSpPr/>
          <p:nvPr/>
        </p:nvSpPr>
        <p:spPr>
          <a:xfrm>
            <a:off x="457200" y="1737360"/>
            <a:ext cx="3611880" cy="4572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pic>
        <p:nvPicPr>
          <p:cNvPr id="7" name="Consolidation figure" descr="Consolidation figure"/>
          <p:cNvPicPr>
            <a:picLocks noChangeAspect="1"/>
          </p:cNvPicPr>
          <p:nvPr/>
        </p:nvPicPr>
        <p:blipFill>
          <a:blip r:embed="rId3"/>
          <a:stretch>
            <a:fillRect/>
          </a:stretch>
        </p:blipFill>
        <p:spPr>
          <a:xfrm>
            <a:off x="566928" y="1828800"/>
            <a:ext cx="3392424" cy="2766130"/>
          </a:xfrm>
          <a:prstGeom prst="rect">
            <a:avLst/>
          </a:prstGeom>
        </p:spPr>
      </p:pic>
      <p:sp>
        <p:nvSpPr>
          <p:cNvPr id="8" name="Text 4"/>
          <p:cNvSpPr txBox="1"/>
          <p:nvPr/>
        </p:nvSpPr>
        <p:spPr>
          <a:xfrm>
            <a:off x="685800" y="4754880"/>
            <a:ext cx="3154680" cy="329184"/>
          </a:xfrm>
          <a:prstGeom prst="rect">
            <a:avLst/>
          </a:prstGeom>
          <a:noFill/>
          <a:ln/>
        </p:spPr>
        <p:txBody>
          <a:bodyPr wrap="square" lIns="0" tIns="0" rIns="0" bIns="0" rtlCol="0" anchor="ctr"/>
          <a:lstStyle/>
          <a:p>
            <a:pPr marL="0" indent="0">
              <a:buNone/>
            </a:pPr>
            <a:r>
              <a:rPr lang="en-US" sz="1600" b="1" dirty="0">
                <a:solidFill>
                  <a:schemeClr val="accent1"/>
                </a:solidFill>
              </a:rPr>
              <a:t>Consolidation</a:t>
            </a:r>
            <a:endParaRPr lang="en-US" sz="1600" dirty="0"/>
          </a:p>
        </p:txBody>
      </p:sp>
      <p:sp>
        <p:nvSpPr>
          <p:cNvPr id="9" name="Text 5"/>
          <p:cNvSpPr txBox="1"/>
          <p:nvPr/>
        </p:nvSpPr>
        <p:spPr>
          <a:xfrm>
            <a:off x="685800" y="5102352"/>
            <a:ext cx="3154680" cy="1097280"/>
          </a:xfrm>
          <a:prstGeom prst="rect">
            <a:avLst/>
          </a:prstGeom>
          <a:noFill/>
          <a:ln/>
        </p:spPr>
        <p:txBody>
          <a:bodyPr wrap="square" lIns="0" tIns="0" rIns="0" bIns="0" rtlCol="0" anchor="t"/>
          <a:lstStyle/>
          <a:p>
            <a:pPr marL="0" indent="0">
              <a:buNone/>
            </a:pPr>
            <a:r>
              <a:rPr lang="en-US" sz="1400" dirty="0">
                <a:solidFill>
                  <a:schemeClr val="tx1"/>
                </a:solidFill>
              </a:rPr>
              <a:t>Error is concentrated in a thin strip near t = 0, where the solution changes sharply.</a:t>
            </a:r>
            <a:endParaRPr lang="en-US" sz="1400" dirty="0"/>
          </a:p>
        </p:txBody>
      </p:sp>
      <p:sp>
        <p:nvSpPr>
          <p:cNvPr id="10" name="Figure card Heat conduction"/>
          <p:cNvSpPr/>
          <p:nvPr/>
        </p:nvSpPr>
        <p:spPr>
          <a:xfrm>
            <a:off x="4288536" y="1737360"/>
            <a:ext cx="3611880" cy="4572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pic>
        <p:nvPicPr>
          <p:cNvPr id="11" name="Heat conduction figure" descr="Heat conduction figure"/>
          <p:cNvPicPr>
            <a:picLocks noChangeAspect="1"/>
          </p:cNvPicPr>
          <p:nvPr/>
        </p:nvPicPr>
        <p:blipFill>
          <a:blip r:embed="rId4"/>
          <a:stretch>
            <a:fillRect/>
          </a:stretch>
        </p:blipFill>
        <p:spPr>
          <a:xfrm>
            <a:off x="4398264" y="1828800"/>
            <a:ext cx="3392424" cy="2766130"/>
          </a:xfrm>
          <a:prstGeom prst="rect">
            <a:avLst/>
          </a:prstGeom>
        </p:spPr>
      </p:pic>
      <p:sp>
        <p:nvSpPr>
          <p:cNvPr id="12" name="Text 7"/>
          <p:cNvSpPr txBox="1"/>
          <p:nvPr/>
        </p:nvSpPr>
        <p:spPr>
          <a:xfrm>
            <a:off x="4517136" y="4754880"/>
            <a:ext cx="3154680" cy="329184"/>
          </a:xfrm>
          <a:prstGeom prst="rect">
            <a:avLst/>
          </a:prstGeom>
          <a:noFill/>
          <a:ln/>
        </p:spPr>
        <p:txBody>
          <a:bodyPr wrap="square" lIns="0" tIns="0" rIns="0" bIns="0" rtlCol="0" anchor="ctr"/>
          <a:lstStyle/>
          <a:p>
            <a:pPr marL="0" indent="0">
              <a:buNone/>
            </a:pPr>
            <a:r>
              <a:rPr lang="en-US" sz="1600" b="1" dirty="0">
                <a:solidFill>
                  <a:schemeClr val="accent1"/>
                </a:solidFill>
              </a:rPr>
              <a:t>Heat conduction</a:t>
            </a:r>
            <a:endParaRPr lang="en-US" sz="1600" dirty="0"/>
          </a:p>
        </p:txBody>
      </p:sp>
      <p:sp>
        <p:nvSpPr>
          <p:cNvPr id="13" name="Text 8"/>
          <p:cNvSpPr txBox="1"/>
          <p:nvPr/>
        </p:nvSpPr>
        <p:spPr>
          <a:xfrm>
            <a:off x="4517136" y="5102352"/>
            <a:ext cx="3154680" cy="1097280"/>
          </a:xfrm>
          <a:prstGeom prst="rect">
            <a:avLst/>
          </a:prstGeom>
          <a:noFill/>
          <a:ln/>
        </p:spPr>
        <p:txBody>
          <a:bodyPr wrap="square" lIns="0" tIns="0" rIns="0" bIns="0" rtlCol="0" anchor="t"/>
          <a:lstStyle/>
          <a:p>
            <a:pPr marL="0" indent="0">
              <a:buNone/>
            </a:pPr>
            <a:r>
              <a:rPr lang="en-US" sz="1400" dirty="0">
                <a:solidFill>
                  <a:schemeClr val="tx1"/>
                </a:solidFill>
              </a:rPr>
              <a:t>Error is largest along the edges and corners, where the boundary condition is only a soft penalty.</a:t>
            </a:r>
            <a:endParaRPr lang="en-US" sz="1400" dirty="0"/>
          </a:p>
        </p:txBody>
      </p:sp>
      <p:sp>
        <p:nvSpPr>
          <p:cNvPr id="14" name="Figure card Spring (inverse)"/>
          <p:cNvSpPr/>
          <p:nvPr/>
        </p:nvSpPr>
        <p:spPr>
          <a:xfrm>
            <a:off x="8119872" y="1737360"/>
            <a:ext cx="3611880" cy="457200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pic>
        <p:nvPicPr>
          <p:cNvPr id="15" name="Spring (inverse) figure" descr="Spring (inverse) figure"/>
          <p:cNvPicPr>
            <a:picLocks noChangeAspect="1"/>
          </p:cNvPicPr>
          <p:nvPr/>
        </p:nvPicPr>
        <p:blipFill>
          <a:blip r:embed="rId5"/>
          <a:stretch>
            <a:fillRect/>
          </a:stretch>
        </p:blipFill>
        <p:spPr>
          <a:xfrm>
            <a:off x="8252587" y="1828800"/>
            <a:ext cx="3346450" cy="2834640"/>
          </a:xfrm>
          <a:prstGeom prst="rect">
            <a:avLst/>
          </a:prstGeom>
        </p:spPr>
      </p:pic>
      <p:sp>
        <p:nvSpPr>
          <p:cNvPr id="16" name="Text 10"/>
          <p:cNvSpPr txBox="1"/>
          <p:nvPr/>
        </p:nvSpPr>
        <p:spPr>
          <a:xfrm>
            <a:off x="8348472" y="4754880"/>
            <a:ext cx="3154680" cy="329184"/>
          </a:xfrm>
          <a:prstGeom prst="rect">
            <a:avLst/>
          </a:prstGeom>
          <a:noFill/>
          <a:ln/>
        </p:spPr>
        <p:txBody>
          <a:bodyPr wrap="square" lIns="0" tIns="0" rIns="0" bIns="0" rtlCol="0" anchor="ctr"/>
          <a:lstStyle/>
          <a:p>
            <a:pPr marL="0" indent="0">
              <a:buNone/>
            </a:pPr>
            <a:r>
              <a:rPr lang="en-US" sz="1600" b="1" dirty="0">
                <a:solidFill>
                  <a:schemeClr val="accent2"/>
                </a:solidFill>
              </a:rPr>
              <a:t>Spring (inverse)</a:t>
            </a:r>
            <a:endParaRPr lang="en-US" sz="1600" dirty="0"/>
          </a:p>
        </p:txBody>
      </p:sp>
      <p:sp>
        <p:nvSpPr>
          <p:cNvPr id="17" name="Text 11"/>
          <p:cNvSpPr txBox="1"/>
          <p:nvPr/>
        </p:nvSpPr>
        <p:spPr>
          <a:xfrm>
            <a:off x="8348472" y="5102352"/>
            <a:ext cx="3154680" cy="1097280"/>
          </a:xfrm>
          <a:prstGeom prst="rect">
            <a:avLst/>
          </a:prstGeom>
          <a:noFill/>
          <a:ln/>
        </p:spPr>
        <p:txBody>
          <a:bodyPr wrap="square" lIns="0" tIns="0" rIns="0" bIns="0" rtlCol="0" anchor="t"/>
          <a:lstStyle/>
          <a:p>
            <a:pPr marL="0" indent="0">
              <a:buNone/>
            </a:pPr>
            <a:r>
              <a:rPr lang="en-US" sz="1400" dirty="0">
                <a:solidFill>
                  <a:schemeClr val="tx1"/>
                </a:solidFill>
              </a:rPr>
              <a:t>k locks onto 4 within about 10,000 iterations; c approaches 0.4 slowly.</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Finding the gaps: the paper names both</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Our novelty comes from the paper's own text, measured in our own reproduction</a:t>
            </a:r>
            <a:endParaRPr lang="en-US" sz="1500" dirty="0"/>
          </a:p>
        </p:txBody>
      </p:sp>
      <p:sp>
        <p:nvSpPr>
          <p:cNvPr id="6" name="GAP 1  ·  HEAT PROBLEM box"/>
          <p:cNvSpPr/>
          <p:nvPr/>
        </p:nvSpPr>
        <p:spPr>
          <a:xfrm>
            <a:off x="457200" y="1783080"/>
            <a:ext cx="5532120" cy="33832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7" name="GAP 1  ·  HEAT PROBLEM top"/>
          <p:cNvSpPr/>
          <p:nvPr/>
        </p:nvSpPr>
        <p:spPr>
          <a:xfrm>
            <a:off x="457200" y="1783080"/>
            <a:ext cx="5532120" cy="54864"/>
          </a:xfrm>
          <a:prstGeom prst="rect">
            <a:avLst/>
          </a:prstGeom>
          <a:solidFill>
            <a:schemeClr val="accent1"/>
          </a:solidFill>
          <a:ln w="12700">
            <a:solidFill>
              <a:schemeClr val="accent1"/>
            </a:solidFill>
            <a:prstDash val="solid"/>
          </a:ln>
        </p:spPr>
      </p:sp>
      <p:sp>
        <p:nvSpPr>
          <p:cNvPr id="8" name="Text 5"/>
          <p:cNvSpPr txBox="1"/>
          <p:nvPr/>
        </p:nvSpPr>
        <p:spPr>
          <a:xfrm>
            <a:off x="685800" y="1965960"/>
            <a:ext cx="507492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GAP 1  ·  HEAT PROBLEM</a:t>
            </a:r>
            <a:endParaRPr lang="en-US" sz="1100" dirty="0"/>
          </a:p>
        </p:txBody>
      </p:sp>
      <p:sp>
        <p:nvSpPr>
          <p:cNvPr id="9" name="Text 6"/>
          <p:cNvSpPr txBox="1"/>
          <p:nvPr/>
        </p:nvSpPr>
        <p:spPr>
          <a:xfrm>
            <a:off x="685800" y="2276856"/>
            <a:ext cx="5074920" cy="365760"/>
          </a:xfrm>
          <a:prstGeom prst="rect">
            <a:avLst/>
          </a:prstGeom>
          <a:noFill/>
          <a:ln/>
        </p:spPr>
        <p:txBody>
          <a:bodyPr wrap="square" lIns="0" tIns="0" rIns="0" bIns="0" rtlCol="0" anchor="t"/>
          <a:lstStyle/>
          <a:p>
            <a:pPr marL="0" indent="0">
              <a:buNone/>
            </a:pPr>
            <a:r>
              <a:rPr lang="en-US" sz="1700" b="1" dirty="0">
                <a:solidFill>
                  <a:schemeClr val="tx1"/>
                </a:solidFill>
              </a:rPr>
              <a:t>Soft boundary condition</a:t>
            </a:r>
            <a:endParaRPr lang="en-US" sz="1700" dirty="0"/>
          </a:p>
        </p:txBody>
      </p:sp>
      <p:sp>
        <p:nvSpPr>
          <p:cNvPr id="10" name="Text 7"/>
          <p:cNvSpPr txBox="1"/>
          <p:nvPr/>
        </p:nvSpPr>
        <p:spPr>
          <a:xfrm>
            <a:off x="685800" y="2697480"/>
            <a:ext cx="5074920" cy="2331720"/>
          </a:xfrm>
          <a:prstGeom prst="rect">
            <a:avLst/>
          </a:prstGeom>
          <a:noFill/>
          <a:ln/>
        </p:spPr>
        <p:txBody>
          <a:bodyPr wrap="square" lIns="0" tIns="0" rIns="0" bIns="0" rtlCol="0" anchor="t"/>
          <a:lstStyle/>
          <a:p>
            <a:pPr marL="177800" indent="-177800">
              <a:spcAft>
                <a:spcPts val="500"/>
              </a:spcAft>
              <a:buSzPct val="100000"/>
              <a:buChar char="•"/>
            </a:pPr>
            <a:r>
              <a:rPr lang="en-US" sz="1400" i="1" dirty="0">
                <a:solidFill>
                  <a:schemeClr val="tx1"/>
                </a:solidFill>
              </a:rPr>
              <a:t>Paper §4.2: “The largest absolute error happens near the Dirichlet boundary because Eq. (4.7) is not regarded as a hard constraint.”</a:t>
            </a:r>
            <a:endParaRPr lang="en-US" sz="1400" dirty="0"/>
          </a:p>
          <a:p>
            <a:pPr marL="177800" indent="-177800">
              <a:spcAft>
                <a:spcPts val="500"/>
              </a:spcAft>
              <a:buSzPct val="100000"/>
              <a:buChar char="•"/>
            </a:pPr>
            <a:r>
              <a:rPr lang="en-US" sz="1400" dirty="0">
                <a:solidFill>
                  <a:schemeClr val="tx1"/>
                </a:solidFill>
              </a:rPr>
              <a:t>Suggested fix: multiply the output by a function that vanishes on the boundary. Not implemented.</a:t>
            </a:r>
            <a:endParaRPr lang="en-US" sz="1400" dirty="0"/>
          </a:p>
          <a:p>
            <a:pPr marL="177800" indent="-177800">
              <a:spcAft>
                <a:spcPts val="500"/>
              </a:spcAft>
              <a:buSzPct val="100000"/>
              <a:buChar char="•"/>
            </a:pPr>
            <a:r>
              <a:rPr lang="en-US" sz="1400" b="1" dirty="0">
                <a:solidFill>
                  <a:schemeClr val="tx1"/>
                </a:solidFill>
              </a:rPr>
              <a:t>Our run: mean boundary error 3.0 × 10⁻³, worst at the corners.</a:t>
            </a:r>
            <a:endParaRPr lang="en-US" sz="1400" dirty="0"/>
          </a:p>
        </p:txBody>
      </p:sp>
      <p:sp>
        <p:nvSpPr>
          <p:cNvPr id="11" name="GAP 2  ·  CONSOLIDATION PROBLEM box"/>
          <p:cNvSpPr/>
          <p:nvPr/>
        </p:nvSpPr>
        <p:spPr>
          <a:xfrm>
            <a:off x="6199632" y="1783080"/>
            <a:ext cx="5532120" cy="338328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2" name="GAP 2  ·  CONSOLIDATION PROBLEM top"/>
          <p:cNvSpPr/>
          <p:nvPr/>
        </p:nvSpPr>
        <p:spPr>
          <a:xfrm>
            <a:off x="6199632" y="1783080"/>
            <a:ext cx="5532120" cy="54864"/>
          </a:xfrm>
          <a:prstGeom prst="rect">
            <a:avLst/>
          </a:prstGeom>
          <a:solidFill>
            <a:schemeClr val="accent2"/>
          </a:solidFill>
          <a:ln w="12700">
            <a:solidFill>
              <a:schemeClr val="accent2"/>
            </a:solidFill>
            <a:prstDash val="solid"/>
          </a:ln>
        </p:spPr>
      </p:sp>
      <p:sp>
        <p:nvSpPr>
          <p:cNvPr id="13" name="Text 10"/>
          <p:cNvSpPr txBox="1"/>
          <p:nvPr/>
        </p:nvSpPr>
        <p:spPr>
          <a:xfrm>
            <a:off x="6428232" y="1965960"/>
            <a:ext cx="5074920"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GAP 2  ·  CONSOLIDATION PROBLEM</a:t>
            </a:r>
            <a:endParaRPr lang="en-US" sz="1100" dirty="0"/>
          </a:p>
        </p:txBody>
      </p:sp>
      <p:sp>
        <p:nvSpPr>
          <p:cNvPr id="14" name="Text 11"/>
          <p:cNvSpPr txBox="1"/>
          <p:nvPr/>
        </p:nvSpPr>
        <p:spPr>
          <a:xfrm>
            <a:off x="6428232" y="2276856"/>
            <a:ext cx="5074920" cy="365760"/>
          </a:xfrm>
          <a:prstGeom prst="rect">
            <a:avLst/>
          </a:prstGeom>
          <a:noFill/>
          <a:ln/>
        </p:spPr>
        <p:txBody>
          <a:bodyPr wrap="square" lIns="0" tIns="0" rIns="0" bIns="0" rtlCol="0" anchor="t"/>
          <a:lstStyle/>
          <a:p>
            <a:pPr marL="0" indent="0">
              <a:buNone/>
            </a:pPr>
            <a:r>
              <a:rPr lang="en-US" sz="1700" b="1" dirty="0">
                <a:solidFill>
                  <a:schemeClr val="tx1"/>
                </a:solidFill>
              </a:rPr>
              <a:t>Fixed, uniform training points</a:t>
            </a:r>
            <a:endParaRPr lang="en-US" sz="1700" dirty="0"/>
          </a:p>
        </p:txBody>
      </p:sp>
      <p:sp>
        <p:nvSpPr>
          <p:cNvPr id="15" name="Text 12"/>
          <p:cNvSpPr txBox="1"/>
          <p:nvPr/>
        </p:nvSpPr>
        <p:spPr>
          <a:xfrm>
            <a:off x="6428232" y="2697480"/>
            <a:ext cx="5074920" cy="2331720"/>
          </a:xfrm>
          <a:prstGeom prst="rect">
            <a:avLst/>
          </a:prstGeom>
          <a:noFill/>
          <a:ln/>
        </p:spPr>
        <p:txBody>
          <a:bodyPr wrap="square" lIns="0" tIns="0" rIns="0" bIns="0" rtlCol="0" anchor="t"/>
          <a:lstStyle/>
          <a:p>
            <a:pPr marL="177800" indent="-177800">
              <a:spcAft>
                <a:spcPts val="500"/>
              </a:spcAft>
              <a:buSzPct val="100000"/>
              <a:buChar char="•"/>
            </a:pPr>
            <a:r>
              <a:rPr lang="en-US" sz="1400" i="1" dirty="0">
                <a:solidFill>
                  <a:schemeClr val="tx1"/>
                </a:solidFill>
              </a:rPr>
              <a:t>Paper §5 (future work): “develop some training points selection strategy similar to the adaptive re-meshing.”</a:t>
            </a:r>
            <a:endParaRPr lang="en-US" sz="1400" dirty="0"/>
          </a:p>
          <a:p>
            <a:pPr marL="177800" indent="-177800">
              <a:spcAft>
                <a:spcPts val="500"/>
              </a:spcAft>
              <a:buSzPct val="100000"/>
              <a:buChar char="•"/>
            </a:pPr>
            <a:r>
              <a:rPr lang="en-US" sz="1400" dirty="0">
                <a:solidFill>
                  <a:schemeClr val="tx1"/>
                </a:solidFill>
              </a:rPr>
              <a:t>500 random points are too sparse in the thin layer near t = 0. Not implemented.</a:t>
            </a:r>
            <a:endParaRPr lang="en-US" sz="1400" dirty="0"/>
          </a:p>
          <a:p>
            <a:pPr marL="177800" indent="-177800">
              <a:spcAft>
                <a:spcPts val="500"/>
              </a:spcAft>
              <a:buSzPct val="100000"/>
              <a:buChar char="•"/>
            </a:pPr>
            <a:r>
              <a:rPr lang="en-US" sz="1400" b="1" dirty="0">
                <a:solidFill>
                  <a:schemeClr val="tx1"/>
                </a:solidFill>
              </a:rPr>
              <a:t>Our run: PDE test residual 18.7, driven by that layer.</a:t>
            </a:r>
            <a:endParaRPr lang="en-US" sz="1400" dirty="0"/>
          </a:p>
        </p:txBody>
      </p:sp>
      <p:sp>
        <p:nvSpPr>
          <p:cNvPr id="16" name="Callout"/>
          <p:cNvSpPr/>
          <p:nvPr/>
        </p:nvSpPr>
        <p:spPr>
          <a:xfrm>
            <a:off x="457200" y="5394960"/>
            <a:ext cx="11274552" cy="914400"/>
          </a:xfrm>
          <a:prstGeom prst="rect">
            <a:avLst/>
          </a:prstGeom>
          <a:solidFill>
            <a:schemeClr val="bg2"/>
          </a:solidFill>
          <a:ln w="9525">
            <a:solidFill>
              <a:srgbClr val="D8E6F5"/>
            </a:solidFill>
            <a:prstDash val="solid"/>
          </a:ln>
        </p:spPr>
      </p:sp>
      <p:sp>
        <p:nvSpPr>
          <p:cNvPr id="17" name="Text 14"/>
          <p:cNvSpPr txBox="1"/>
          <p:nvPr/>
        </p:nvSpPr>
        <p:spPr>
          <a:xfrm>
            <a:off x="685800" y="5394960"/>
            <a:ext cx="10817352" cy="914400"/>
          </a:xfrm>
          <a:prstGeom prst="rect">
            <a:avLst/>
          </a:prstGeom>
          <a:noFill/>
          <a:ln/>
        </p:spPr>
        <p:txBody>
          <a:bodyPr wrap="square" lIns="0" tIns="0" rIns="0" bIns="0" rtlCol="0" anchor="ctr"/>
          <a:lstStyle/>
          <a:p>
            <a:pPr marL="0" indent="0">
              <a:buNone/>
            </a:pPr>
            <a:r>
              <a:rPr lang="en-US" sz="1500" b="1" dirty="0">
                <a:solidFill>
                  <a:schemeClr val="accent1"/>
                </a:solidFill>
              </a:rPr>
              <a:t>Our contribution:  </a:t>
            </a:r>
            <a:r>
              <a:rPr lang="en-US" sz="1500" dirty="0">
                <a:solidFill>
                  <a:schemeClr val="tx1"/>
                </a:solidFill>
              </a:rPr>
              <a:t>implement and test both suggestions, keeping the network, seed and training budget identical to Part 1, and add a control experiment so the comparison is fair.</a:t>
            </a:r>
            <a:endParaRPr lang="en-US" sz="15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Fix 1: a hard boundary condition</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Heat conduction: build T = 0 on the edges into the network itself</a:t>
            </a:r>
            <a:endParaRPr lang="en-US" sz="1500" dirty="0"/>
          </a:p>
        </p:txBody>
      </p:sp>
      <p:sp>
        <p:nvSpPr>
          <p:cNvPr id="6" name="Dark box"/>
          <p:cNvSpPr/>
          <p:nvPr/>
        </p:nvSpPr>
        <p:spPr>
          <a:xfrm>
            <a:off x="457200" y="1737360"/>
            <a:ext cx="4480560" cy="960120"/>
          </a:xfrm>
          <a:prstGeom prst="roundRect">
            <a:avLst>
              <a:gd name="adj" fmla="val 7619"/>
            </a:avLst>
          </a:prstGeom>
          <a:solidFill>
            <a:schemeClr val="tx1"/>
          </a:solidFill>
          <a:ln w="12700">
            <a:solidFill>
              <a:schemeClr val="tx1"/>
            </a:solidFill>
            <a:prstDash val="solid"/>
          </a:ln>
        </p:spPr>
      </p:sp>
      <p:sp>
        <p:nvSpPr>
          <p:cNvPr id="7" name="Text 4"/>
          <p:cNvSpPr txBox="1"/>
          <p:nvPr/>
        </p:nvSpPr>
        <p:spPr>
          <a:xfrm>
            <a:off x="731520" y="1737360"/>
            <a:ext cx="3931920" cy="960120"/>
          </a:xfrm>
          <a:prstGeom prst="rect">
            <a:avLst/>
          </a:prstGeom>
          <a:noFill/>
          <a:ln/>
        </p:spPr>
        <p:txBody>
          <a:bodyPr wrap="square" lIns="0" tIns="0" rIns="0" bIns="0" rtlCol="0" anchor="ctr"/>
          <a:lstStyle/>
          <a:p>
            <a:pPr marL="0" indent="0">
              <a:buNone/>
            </a:pPr>
            <a:r>
              <a:rPr lang="en-US" sz="2000" b="1" dirty="0">
                <a:solidFill>
                  <a:schemeClr val="bg1"/>
                </a:solidFill>
              </a:rPr>
              <a:t>T̂(x, y) = (1 − x²)(1 − y²) · NN(x, y)</a:t>
            </a:r>
            <a:endParaRPr lang="en-US" sz="2000" dirty="0"/>
          </a:p>
        </p:txBody>
      </p:sp>
      <p:sp>
        <p:nvSpPr>
          <p:cNvPr id="8" name="Text 5"/>
          <p:cNvSpPr txBox="1"/>
          <p:nvPr/>
        </p:nvSpPr>
        <p:spPr>
          <a:xfrm>
            <a:off x="502920" y="2834640"/>
            <a:ext cx="4389120" cy="16459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The factor is exactly zero on all four edges, so T = 0 on the boundary for any network weights</a:t>
            </a:r>
            <a:endParaRPr lang="en-US" sz="1400" dirty="0"/>
          </a:p>
          <a:p>
            <a:pPr marL="177800" indent="-177800">
              <a:spcAft>
                <a:spcPts val="600"/>
              </a:spcAft>
              <a:buSzPct val="100000"/>
              <a:buChar char="•"/>
            </a:pPr>
            <a:r>
              <a:rPr lang="en-US" sz="1400" dirty="0">
                <a:solidFill>
                  <a:schemeClr val="tx1"/>
                </a:solidFill>
              </a:rPr>
              <a:t>The boundary loss is removed: the loss is the PDE residual only</a:t>
            </a:r>
            <a:endParaRPr lang="en-US" sz="1400" dirty="0"/>
          </a:p>
          <a:p>
            <a:pPr marL="177800" indent="-177800">
              <a:buSzPct val="100000"/>
              <a:buChar char="•"/>
            </a:pPr>
            <a:r>
              <a:rPr lang="en-US" sz="1400" dirty="0">
                <a:solidFill>
                  <a:schemeClr val="tx1"/>
                </a:solidFill>
              </a:rPr>
              <a:t>Same network, 1,500 points, seed and Adam 50k + L-BFGS as Part 1</a:t>
            </a:r>
            <a:endParaRPr lang="en-US" sz="1400" dirty="0"/>
          </a:p>
        </p:txBody>
      </p:sp>
      <p:pic>
        <p:nvPicPr>
          <p:cNvPr id="9" name="Fix 1 before and after error maps" descr="Fix 1 before and after error maps"/>
          <p:cNvPicPr>
            <a:picLocks noChangeAspect="1"/>
          </p:cNvPicPr>
          <p:nvPr/>
        </p:nvPicPr>
        <p:blipFill>
          <a:blip r:embed="rId3"/>
          <a:stretch>
            <a:fillRect/>
          </a:stretch>
        </p:blipFill>
        <p:spPr>
          <a:xfrm>
            <a:off x="5134356" y="1737360"/>
            <a:ext cx="6583680" cy="2743200"/>
          </a:xfrm>
          <a:prstGeom prst="rect">
            <a:avLst/>
          </a:prstGeom>
        </p:spPr>
      </p:pic>
      <p:sp>
        <p:nvSpPr>
          <p:cNvPr id="10" name="Text 6"/>
          <p:cNvSpPr txBox="1"/>
          <p:nvPr/>
        </p:nvSpPr>
        <p:spPr>
          <a:xfrm>
            <a:off x="5120640" y="4498848"/>
            <a:ext cx="6611112" cy="256032"/>
          </a:xfrm>
          <a:prstGeom prst="rect">
            <a:avLst/>
          </a:prstGeom>
          <a:noFill/>
          <a:ln/>
        </p:spPr>
        <p:txBody>
          <a:bodyPr wrap="square" lIns="0" tIns="0" rIns="0" bIns="0" rtlCol="0" anchor="ctr"/>
          <a:lstStyle/>
          <a:p>
            <a:pPr marL="0" indent="0" algn="ctr">
              <a:buNone/>
            </a:pPr>
            <a:r>
              <a:rPr lang="en-US" sz="1100" i="1" dirty="0">
                <a:solidFill>
                  <a:schemeClr val="accent4"/>
                </a:solidFill>
              </a:rPr>
              <a:t>Error maps, each on its own colour scale: left 0 to 1.2 × 10⁻², right 0 to 5.5 × 10⁻⁵</a:t>
            </a:r>
            <a:endParaRPr lang="en-US" sz="1100" dirty="0"/>
          </a:p>
        </p:txBody>
      </p:sp>
      <p:sp>
        <p:nvSpPr>
          <p:cNvPr id="11" name="Stat ≈220×"/>
          <p:cNvSpPr/>
          <p:nvPr/>
        </p:nvSpPr>
        <p:spPr>
          <a:xfrm>
            <a:off x="457200" y="4846320"/>
            <a:ext cx="2697480" cy="14630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2" name="Text 8"/>
          <p:cNvSpPr txBox="1"/>
          <p:nvPr/>
        </p:nvSpPr>
        <p:spPr>
          <a:xfrm>
            <a:off x="594360" y="4919472"/>
            <a:ext cx="2423160" cy="804672"/>
          </a:xfrm>
          <a:prstGeom prst="rect">
            <a:avLst/>
          </a:prstGeom>
          <a:noFill/>
          <a:ln/>
        </p:spPr>
        <p:txBody>
          <a:bodyPr wrap="square" lIns="0" tIns="0" rIns="0" bIns="0" rtlCol="0" anchor="ctr"/>
          <a:lstStyle/>
          <a:p>
            <a:pPr marL="0" indent="0" algn="ctr">
              <a:buNone/>
            </a:pPr>
            <a:r>
              <a:rPr lang="en-US" sz="3600" b="1" dirty="0">
                <a:solidFill>
                  <a:schemeClr val="accent2"/>
                </a:solidFill>
              </a:rPr>
              <a:t>≈220×</a:t>
            </a:r>
            <a:endParaRPr lang="en-US" sz="3600" dirty="0"/>
          </a:p>
        </p:txBody>
      </p:sp>
      <p:sp>
        <p:nvSpPr>
          <p:cNvPr id="13" name="Text 9"/>
          <p:cNvSpPr txBox="1"/>
          <p:nvPr/>
        </p:nvSpPr>
        <p:spPr>
          <a:xfrm>
            <a:off x="594360" y="5694883"/>
            <a:ext cx="2423160" cy="555955"/>
          </a:xfrm>
          <a:prstGeom prst="rect">
            <a:avLst/>
          </a:prstGeom>
          <a:noFill/>
          <a:ln/>
        </p:spPr>
        <p:txBody>
          <a:bodyPr wrap="square" lIns="0" tIns="0" rIns="0" bIns="0" rtlCol="0" anchor="t"/>
          <a:lstStyle/>
          <a:p>
            <a:pPr marL="0" indent="0" algn="ctr">
              <a:buNone/>
            </a:pPr>
            <a:r>
              <a:rPr lang="en-US" sz="1300" dirty="0">
                <a:solidFill>
                  <a:schemeClr val="accent4"/>
                </a:solidFill>
              </a:rPr>
              <a:t>lower error: 0.90 % → 0.004 %</a:t>
            </a:r>
            <a:endParaRPr lang="en-US" sz="1300" dirty="0"/>
          </a:p>
        </p:txBody>
      </p:sp>
      <p:sp>
        <p:nvSpPr>
          <p:cNvPr id="14" name="Stat 0"/>
          <p:cNvSpPr/>
          <p:nvPr/>
        </p:nvSpPr>
        <p:spPr>
          <a:xfrm>
            <a:off x="3319272" y="4846320"/>
            <a:ext cx="2697480" cy="14630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5" name="Text 11"/>
          <p:cNvSpPr txBox="1"/>
          <p:nvPr/>
        </p:nvSpPr>
        <p:spPr>
          <a:xfrm>
            <a:off x="3456432" y="4919472"/>
            <a:ext cx="2423160" cy="804672"/>
          </a:xfrm>
          <a:prstGeom prst="rect">
            <a:avLst/>
          </a:prstGeom>
          <a:noFill/>
          <a:ln/>
        </p:spPr>
        <p:txBody>
          <a:bodyPr wrap="square" lIns="0" tIns="0" rIns="0" bIns="0" rtlCol="0" anchor="ctr"/>
          <a:lstStyle/>
          <a:p>
            <a:pPr marL="0" indent="0" algn="ctr">
              <a:buNone/>
            </a:pPr>
            <a:r>
              <a:rPr lang="en-US" sz="3600" b="1" dirty="0">
                <a:solidFill>
                  <a:schemeClr val="accent2"/>
                </a:solidFill>
              </a:rPr>
              <a:t>0</a:t>
            </a:r>
            <a:endParaRPr lang="en-US" sz="3600" dirty="0"/>
          </a:p>
        </p:txBody>
      </p:sp>
      <p:sp>
        <p:nvSpPr>
          <p:cNvPr id="16" name="Text 12"/>
          <p:cNvSpPr txBox="1"/>
          <p:nvPr/>
        </p:nvSpPr>
        <p:spPr>
          <a:xfrm>
            <a:off x="3456432" y="5694883"/>
            <a:ext cx="2423160" cy="555955"/>
          </a:xfrm>
          <a:prstGeom prst="rect">
            <a:avLst/>
          </a:prstGeom>
          <a:noFill/>
          <a:ln/>
        </p:spPr>
        <p:txBody>
          <a:bodyPr wrap="square" lIns="0" tIns="0" rIns="0" bIns="0" rtlCol="0" anchor="t"/>
          <a:lstStyle/>
          <a:p>
            <a:pPr marL="0" indent="0" algn="ctr">
              <a:buNone/>
            </a:pPr>
            <a:r>
              <a:rPr lang="en-US" sz="1300" dirty="0">
                <a:solidFill>
                  <a:schemeClr val="accent4"/>
                </a:solidFill>
              </a:rPr>
              <a:t>boundary error (exact)</a:t>
            </a:r>
            <a:endParaRPr lang="en-US" sz="1300" dirty="0"/>
          </a:p>
        </p:txBody>
      </p:sp>
      <p:sp>
        <p:nvSpPr>
          <p:cNvPr id="17" name="Stat 14 → 4,019"/>
          <p:cNvSpPr/>
          <p:nvPr/>
        </p:nvSpPr>
        <p:spPr>
          <a:xfrm>
            <a:off x="6181344" y="4846320"/>
            <a:ext cx="2697480" cy="14630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8" name="Text 14"/>
          <p:cNvSpPr txBox="1"/>
          <p:nvPr/>
        </p:nvSpPr>
        <p:spPr>
          <a:xfrm>
            <a:off x="6318504" y="4919472"/>
            <a:ext cx="2423160" cy="804672"/>
          </a:xfrm>
          <a:prstGeom prst="rect">
            <a:avLst/>
          </a:prstGeom>
          <a:noFill/>
          <a:ln/>
        </p:spPr>
        <p:txBody>
          <a:bodyPr wrap="square" lIns="0" tIns="0" rIns="0" bIns="0" rtlCol="0" anchor="ctr"/>
          <a:lstStyle/>
          <a:p>
            <a:pPr marL="0" indent="0" algn="ctr">
              <a:buNone/>
            </a:pPr>
            <a:r>
              <a:rPr lang="en-US" sz="3600" b="1" dirty="0">
                <a:solidFill>
                  <a:schemeClr val="accent1"/>
                </a:solidFill>
              </a:rPr>
              <a:t>14 → 4,019</a:t>
            </a:r>
            <a:endParaRPr lang="en-US" sz="3600" dirty="0"/>
          </a:p>
        </p:txBody>
      </p:sp>
      <p:sp>
        <p:nvSpPr>
          <p:cNvPr id="19" name="Text 15"/>
          <p:cNvSpPr txBox="1"/>
          <p:nvPr/>
        </p:nvSpPr>
        <p:spPr>
          <a:xfrm>
            <a:off x="6318504" y="5694883"/>
            <a:ext cx="2423160" cy="555955"/>
          </a:xfrm>
          <a:prstGeom prst="rect">
            <a:avLst/>
          </a:prstGeom>
          <a:noFill/>
          <a:ln/>
        </p:spPr>
        <p:txBody>
          <a:bodyPr wrap="square" lIns="0" tIns="0" rIns="0" bIns="0" rtlCol="0" anchor="t"/>
          <a:lstStyle/>
          <a:p>
            <a:pPr marL="0" indent="0" algn="ctr">
              <a:buNone/>
            </a:pPr>
            <a:r>
              <a:rPr lang="en-US" sz="1300" dirty="0">
                <a:solidFill>
                  <a:schemeClr val="accent4"/>
                </a:solidFill>
              </a:rPr>
              <a:t>L-BFGS iterations before stopping</a:t>
            </a:r>
            <a:endParaRPr lang="en-US" sz="1300" dirty="0"/>
          </a:p>
        </p:txBody>
      </p:sp>
      <p:sp>
        <p:nvSpPr>
          <p:cNvPr id="20" name="Why box"/>
          <p:cNvSpPr/>
          <p:nvPr/>
        </p:nvSpPr>
        <p:spPr>
          <a:xfrm>
            <a:off x="9043416" y="4846320"/>
            <a:ext cx="2688336" cy="1463040"/>
          </a:xfrm>
          <a:prstGeom prst="rect">
            <a:avLst/>
          </a:prstGeom>
          <a:solidFill>
            <a:schemeClr val="bg2"/>
          </a:solidFill>
          <a:ln w="9525">
            <a:solidFill>
              <a:srgbClr val="D8E6F5"/>
            </a:solidFill>
            <a:prstDash val="solid"/>
          </a:ln>
        </p:spPr>
      </p:sp>
      <p:sp>
        <p:nvSpPr>
          <p:cNvPr id="21" name="Text 17"/>
          <p:cNvSpPr txBox="1"/>
          <p:nvPr/>
        </p:nvSpPr>
        <p:spPr>
          <a:xfrm>
            <a:off x="9226296" y="4846320"/>
            <a:ext cx="2322576" cy="1463040"/>
          </a:xfrm>
          <a:prstGeom prst="rect">
            <a:avLst/>
          </a:prstGeom>
          <a:noFill/>
          <a:ln/>
        </p:spPr>
        <p:txBody>
          <a:bodyPr wrap="square" lIns="0" tIns="0" rIns="0" bIns="0" rtlCol="0" anchor="ctr"/>
          <a:lstStyle/>
          <a:p>
            <a:pPr marL="0" indent="0">
              <a:buNone/>
            </a:pPr>
            <a:r>
              <a:rPr lang="en-US" sz="1400" b="1" dirty="0">
                <a:solidFill>
                  <a:schemeClr val="accent1"/>
                </a:solidFill>
              </a:rPr>
              <a:t>Why so large?  </a:t>
            </a:r>
            <a:r>
              <a:rPr lang="en-US" sz="1400" dirty="0">
                <a:solidFill>
                  <a:schemeClr val="tx1"/>
                </a:solidFill>
              </a:rPr>
              <a:t>One loss term instead of two competing ones, so L-BFGS keeps converging instead of stalling.</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Fix 2: residual-based adaptive refinement (RAR)</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Consolidation: put extra training points where the physics is violated most  ·  RAR from Lu et al., DeepXDE (paper ref. [24])</a:t>
            </a:r>
            <a:endParaRPr lang="en-US" sz="1500" dirty="0"/>
          </a:p>
        </p:txBody>
      </p:sp>
      <p:sp>
        <p:nvSpPr>
          <p:cNvPr id="6" name="RAR step 1"/>
          <p:cNvSpPr/>
          <p:nvPr/>
        </p:nvSpPr>
        <p:spPr>
          <a:xfrm>
            <a:off x="457200" y="1783080"/>
            <a:ext cx="2148840" cy="960120"/>
          </a:xfrm>
          <a:prstGeom prst="roundRect">
            <a:avLst>
              <a:gd name="adj" fmla="val 7619"/>
            </a:avLst>
          </a:prstGeom>
          <a:solidFill>
            <a:schemeClr val="accent1"/>
          </a:solidFill>
          <a:ln w="12700">
            <a:solidFill>
              <a:schemeClr val="accent1"/>
            </a:solidFill>
            <a:prstDash val="solid"/>
          </a:ln>
        </p:spPr>
      </p:sp>
      <p:sp>
        <p:nvSpPr>
          <p:cNvPr id="7" name="Text 4"/>
          <p:cNvSpPr txBox="1"/>
          <p:nvPr/>
        </p:nvSpPr>
        <p:spPr>
          <a:xfrm>
            <a:off x="548640" y="1783080"/>
            <a:ext cx="1965960" cy="960120"/>
          </a:xfrm>
          <a:prstGeom prst="rect">
            <a:avLst/>
          </a:prstGeom>
          <a:noFill/>
          <a:ln/>
        </p:spPr>
        <p:txBody>
          <a:bodyPr wrap="square" lIns="0" tIns="0" rIns="0" bIns="0" rtlCol="0" anchor="ctr"/>
          <a:lstStyle/>
          <a:p>
            <a:pPr marL="0" indent="0" algn="ctr">
              <a:buNone/>
            </a:pPr>
            <a:r>
              <a:rPr lang="en-US" sz="1700" b="1" dirty="0">
                <a:solidFill>
                  <a:schemeClr val="bg1"/>
                </a:solidFill>
              </a:rPr>
              <a:t>1  Train</a:t>
            </a:r>
            <a:endParaRPr lang="en-US" sz="1700" dirty="0"/>
          </a:p>
          <a:p>
            <a:pPr marL="0" indent="0" algn="ctr">
              <a:buNone/>
            </a:pPr>
            <a:r>
              <a:rPr lang="en-US" sz="1300" dirty="0">
                <a:solidFill>
                  <a:schemeClr val="bg1"/>
                </a:solidFill>
              </a:rPr>
              <a:t>10,000 Adam epochs</a:t>
            </a:r>
            <a:endParaRPr lang="en-US" sz="1700" dirty="0"/>
          </a:p>
        </p:txBody>
      </p:sp>
      <p:sp>
        <p:nvSpPr>
          <p:cNvPr id="8" name="Arrow"/>
          <p:cNvSpPr/>
          <p:nvPr/>
        </p:nvSpPr>
        <p:spPr>
          <a:xfrm>
            <a:off x="2642616" y="2263140"/>
            <a:ext cx="230886" cy="0"/>
          </a:xfrm>
          <a:prstGeom prst="line">
            <a:avLst/>
          </a:prstGeom>
          <a:noFill/>
          <a:ln w="19050">
            <a:solidFill>
              <a:schemeClr val="accent4"/>
            </a:solidFill>
            <a:prstDash val="solid"/>
            <a:tailEnd type="triangle"/>
          </a:ln>
        </p:spPr>
      </p:sp>
      <p:sp>
        <p:nvSpPr>
          <p:cNvPr id="9" name="RAR step 2"/>
          <p:cNvSpPr/>
          <p:nvPr/>
        </p:nvSpPr>
        <p:spPr>
          <a:xfrm>
            <a:off x="2910078" y="1783080"/>
            <a:ext cx="2148840" cy="960120"/>
          </a:xfrm>
          <a:prstGeom prst="roundRect">
            <a:avLst>
              <a:gd name="adj" fmla="val 7619"/>
            </a:avLst>
          </a:prstGeom>
          <a:solidFill>
            <a:schemeClr val="accent1"/>
          </a:solidFill>
          <a:ln w="12700">
            <a:solidFill>
              <a:schemeClr val="accent1"/>
            </a:solidFill>
            <a:prstDash val="solid"/>
          </a:ln>
        </p:spPr>
      </p:sp>
      <p:sp>
        <p:nvSpPr>
          <p:cNvPr id="10" name="Text 7"/>
          <p:cNvSpPr txBox="1"/>
          <p:nvPr/>
        </p:nvSpPr>
        <p:spPr>
          <a:xfrm>
            <a:off x="3001518" y="1783080"/>
            <a:ext cx="1965960" cy="960120"/>
          </a:xfrm>
          <a:prstGeom prst="rect">
            <a:avLst/>
          </a:prstGeom>
          <a:noFill/>
          <a:ln/>
        </p:spPr>
        <p:txBody>
          <a:bodyPr wrap="square" lIns="0" tIns="0" rIns="0" bIns="0" rtlCol="0" anchor="ctr"/>
          <a:lstStyle/>
          <a:p>
            <a:pPr marL="0" indent="0" algn="ctr">
              <a:buNone/>
            </a:pPr>
            <a:r>
              <a:rPr lang="en-US" sz="1700" b="1" dirty="0">
                <a:solidFill>
                  <a:schemeClr val="bg1"/>
                </a:solidFill>
              </a:rPr>
              <a:t>2  Sample</a:t>
            </a:r>
            <a:endParaRPr lang="en-US" sz="1700" dirty="0"/>
          </a:p>
          <a:p>
            <a:pPr marL="0" indent="0" algn="ctr">
              <a:buNone/>
            </a:pPr>
            <a:r>
              <a:rPr lang="en-US" sz="1300" dirty="0">
                <a:solidFill>
                  <a:schemeClr val="bg1"/>
                </a:solidFill>
              </a:rPr>
              <a:t>5,000 random candidates</a:t>
            </a:r>
            <a:endParaRPr lang="en-US" sz="1700" dirty="0"/>
          </a:p>
        </p:txBody>
      </p:sp>
      <p:sp>
        <p:nvSpPr>
          <p:cNvPr id="11" name="Arrow"/>
          <p:cNvSpPr/>
          <p:nvPr/>
        </p:nvSpPr>
        <p:spPr>
          <a:xfrm>
            <a:off x="5095494" y="2263140"/>
            <a:ext cx="230886" cy="0"/>
          </a:xfrm>
          <a:prstGeom prst="line">
            <a:avLst/>
          </a:prstGeom>
          <a:noFill/>
          <a:ln w="19050">
            <a:solidFill>
              <a:schemeClr val="accent4"/>
            </a:solidFill>
            <a:prstDash val="solid"/>
            <a:tailEnd type="triangle"/>
          </a:ln>
        </p:spPr>
      </p:sp>
      <p:sp>
        <p:nvSpPr>
          <p:cNvPr id="12" name="RAR step 3"/>
          <p:cNvSpPr/>
          <p:nvPr/>
        </p:nvSpPr>
        <p:spPr>
          <a:xfrm>
            <a:off x="5362956" y="1783080"/>
            <a:ext cx="2148840" cy="960120"/>
          </a:xfrm>
          <a:prstGeom prst="roundRect">
            <a:avLst>
              <a:gd name="adj" fmla="val 7619"/>
            </a:avLst>
          </a:prstGeom>
          <a:solidFill>
            <a:schemeClr val="accent1"/>
          </a:solidFill>
          <a:ln w="12700">
            <a:solidFill>
              <a:schemeClr val="accent1"/>
            </a:solidFill>
            <a:prstDash val="solid"/>
          </a:ln>
        </p:spPr>
      </p:sp>
      <p:sp>
        <p:nvSpPr>
          <p:cNvPr id="13" name="Text 10"/>
          <p:cNvSpPr txBox="1"/>
          <p:nvPr/>
        </p:nvSpPr>
        <p:spPr>
          <a:xfrm>
            <a:off x="5454396" y="1783080"/>
            <a:ext cx="1965960" cy="960120"/>
          </a:xfrm>
          <a:prstGeom prst="rect">
            <a:avLst/>
          </a:prstGeom>
          <a:noFill/>
          <a:ln/>
        </p:spPr>
        <p:txBody>
          <a:bodyPr wrap="square" lIns="0" tIns="0" rIns="0" bIns="0" rtlCol="0" anchor="ctr"/>
          <a:lstStyle/>
          <a:p>
            <a:pPr marL="0" indent="0" algn="ctr">
              <a:buNone/>
            </a:pPr>
            <a:r>
              <a:rPr lang="en-US" sz="1700" b="1" dirty="0">
                <a:solidFill>
                  <a:schemeClr val="bg1"/>
                </a:solidFill>
              </a:rPr>
              <a:t>3  Score</a:t>
            </a:r>
            <a:endParaRPr lang="en-US" sz="1700" dirty="0"/>
          </a:p>
          <a:p>
            <a:pPr marL="0" indent="0" algn="ctr">
              <a:buNone/>
            </a:pPr>
            <a:r>
              <a:rPr lang="en-US" sz="1300" dirty="0">
                <a:solidFill>
                  <a:schemeClr val="bg1"/>
                </a:solidFill>
              </a:rPr>
              <a:t>PDE residual r² at each</a:t>
            </a:r>
            <a:endParaRPr lang="en-US" sz="1700" dirty="0"/>
          </a:p>
        </p:txBody>
      </p:sp>
      <p:sp>
        <p:nvSpPr>
          <p:cNvPr id="14" name="Arrow"/>
          <p:cNvSpPr/>
          <p:nvPr/>
        </p:nvSpPr>
        <p:spPr>
          <a:xfrm>
            <a:off x="7548372" y="2263140"/>
            <a:ext cx="230886" cy="0"/>
          </a:xfrm>
          <a:prstGeom prst="line">
            <a:avLst/>
          </a:prstGeom>
          <a:noFill/>
          <a:ln w="19050">
            <a:solidFill>
              <a:schemeClr val="accent4"/>
            </a:solidFill>
            <a:prstDash val="solid"/>
            <a:tailEnd type="triangle"/>
          </a:ln>
        </p:spPr>
      </p:sp>
      <p:sp>
        <p:nvSpPr>
          <p:cNvPr id="15" name="RAR step 4"/>
          <p:cNvSpPr/>
          <p:nvPr/>
        </p:nvSpPr>
        <p:spPr>
          <a:xfrm>
            <a:off x="7815834" y="1783080"/>
            <a:ext cx="2148840" cy="960120"/>
          </a:xfrm>
          <a:prstGeom prst="roundRect">
            <a:avLst>
              <a:gd name="adj" fmla="val 7619"/>
            </a:avLst>
          </a:prstGeom>
          <a:solidFill>
            <a:schemeClr val="accent2"/>
          </a:solidFill>
          <a:ln w="12700">
            <a:solidFill>
              <a:schemeClr val="accent2"/>
            </a:solidFill>
            <a:prstDash val="solid"/>
          </a:ln>
        </p:spPr>
      </p:sp>
      <p:sp>
        <p:nvSpPr>
          <p:cNvPr id="16" name="Text 13"/>
          <p:cNvSpPr txBox="1"/>
          <p:nvPr/>
        </p:nvSpPr>
        <p:spPr>
          <a:xfrm>
            <a:off x="7907274" y="1783080"/>
            <a:ext cx="1965960" cy="960120"/>
          </a:xfrm>
          <a:prstGeom prst="rect">
            <a:avLst/>
          </a:prstGeom>
          <a:noFill/>
          <a:ln/>
        </p:spPr>
        <p:txBody>
          <a:bodyPr wrap="square" lIns="0" tIns="0" rIns="0" bIns="0" rtlCol="0" anchor="ctr"/>
          <a:lstStyle/>
          <a:p>
            <a:pPr marL="0" indent="0" algn="ctr">
              <a:buNone/>
            </a:pPr>
            <a:r>
              <a:rPr lang="en-US" sz="1700" b="1" dirty="0">
                <a:solidFill>
                  <a:schemeClr val="bg1"/>
                </a:solidFill>
              </a:rPr>
              <a:t>4  Add</a:t>
            </a:r>
            <a:endParaRPr lang="en-US" sz="1700" dirty="0"/>
          </a:p>
          <a:p>
            <a:pPr marL="0" indent="0" algn="ctr">
              <a:buNone/>
            </a:pPr>
            <a:r>
              <a:rPr lang="en-US" sz="1300" dirty="0">
                <a:solidFill>
                  <a:schemeClr val="bg1"/>
                </a:solidFill>
              </a:rPr>
              <a:t>the 40 worst to training</a:t>
            </a:r>
            <a:endParaRPr lang="en-US" sz="1700" dirty="0"/>
          </a:p>
        </p:txBody>
      </p:sp>
      <p:sp>
        <p:nvSpPr>
          <p:cNvPr id="17" name="Repeat box"/>
          <p:cNvSpPr/>
          <p:nvPr/>
        </p:nvSpPr>
        <p:spPr>
          <a:xfrm>
            <a:off x="10101834" y="1783080"/>
            <a:ext cx="1629918" cy="960120"/>
          </a:xfrm>
          <a:prstGeom prst="roundRect">
            <a:avLst>
              <a:gd name="adj" fmla="val 7619"/>
            </a:avLst>
          </a:prstGeom>
          <a:solidFill>
            <a:schemeClr val="tx1"/>
          </a:solidFill>
          <a:ln w="12700">
            <a:solidFill>
              <a:schemeClr val="tx1"/>
            </a:solidFill>
            <a:prstDash val="solid"/>
          </a:ln>
        </p:spPr>
      </p:sp>
      <p:sp>
        <p:nvSpPr>
          <p:cNvPr id="18" name="Text 15"/>
          <p:cNvSpPr txBox="1"/>
          <p:nvPr/>
        </p:nvSpPr>
        <p:spPr>
          <a:xfrm>
            <a:off x="10101834" y="1783080"/>
            <a:ext cx="1629918" cy="960120"/>
          </a:xfrm>
          <a:prstGeom prst="rect">
            <a:avLst/>
          </a:prstGeom>
          <a:noFill/>
          <a:ln/>
        </p:spPr>
        <p:txBody>
          <a:bodyPr wrap="square" lIns="0" tIns="0" rIns="0" bIns="0" rtlCol="0" anchor="ctr"/>
          <a:lstStyle/>
          <a:p>
            <a:pPr marL="0" indent="0" algn="ctr">
              <a:buNone/>
            </a:pPr>
            <a:r>
              <a:rPr lang="en-US" sz="1600" b="1" dirty="0">
                <a:solidFill>
                  <a:schemeClr val="bg1"/>
                </a:solidFill>
              </a:rPr>
              <a:t>× 5 cycles</a:t>
            </a:r>
            <a:endParaRPr lang="en-US" sz="1600" dirty="0"/>
          </a:p>
          <a:p>
            <a:pPr marL="0" indent="0" algn="ctr">
              <a:buNone/>
            </a:pPr>
            <a:r>
              <a:rPr lang="en-US" sz="1300" dirty="0">
                <a:solidFill>
                  <a:schemeClr val="bg1"/>
                </a:solidFill>
              </a:rPr>
              <a:t>then L-BFGS</a:t>
            </a:r>
            <a:endParaRPr lang="en-US" sz="1600" dirty="0"/>
          </a:p>
        </p:txBody>
      </p:sp>
      <p:sp>
        <p:nvSpPr>
          <p:cNvPr id="19" name="CONTROL EXPERIMENT box"/>
          <p:cNvSpPr/>
          <p:nvPr/>
        </p:nvSpPr>
        <p:spPr>
          <a:xfrm>
            <a:off x="457200" y="3017520"/>
            <a:ext cx="4206240" cy="3291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20" name="CONTROL EXPERIMENT top"/>
          <p:cNvSpPr/>
          <p:nvPr/>
        </p:nvSpPr>
        <p:spPr>
          <a:xfrm>
            <a:off x="457200" y="3017520"/>
            <a:ext cx="4206240" cy="54864"/>
          </a:xfrm>
          <a:prstGeom prst="rect">
            <a:avLst/>
          </a:prstGeom>
          <a:solidFill>
            <a:schemeClr val="accent3"/>
          </a:solidFill>
          <a:ln w="12700">
            <a:solidFill>
              <a:schemeClr val="accent3"/>
            </a:solidFill>
            <a:prstDash val="solid"/>
          </a:ln>
        </p:spPr>
      </p:sp>
      <p:sp>
        <p:nvSpPr>
          <p:cNvPr id="21" name="Text 18"/>
          <p:cNvSpPr txBox="1"/>
          <p:nvPr/>
        </p:nvSpPr>
        <p:spPr>
          <a:xfrm>
            <a:off x="685800" y="3200400"/>
            <a:ext cx="3749040" cy="256032"/>
          </a:xfrm>
          <a:prstGeom prst="rect">
            <a:avLst/>
          </a:prstGeom>
          <a:noFill/>
          <a:ln/>
        </p:spPr>
        <p:txBody>
          <a:bodyPr wrap="square" lIns="0" tIns="0" rIns="0" bIns="0" rtlCol="0" anchor="ctr"/>
          <a:lstStyle/>
          <a:p>
            <a:pPr marL="0" indent="0">
              <a:buNone/>
            </a:pPr>
            <a:r>
              <a:rPr lang="en-US" sz="1100" b="1" kern="0" spc="300" dirty="0">
                <a:solidFill>
                  <a:schemeClr val="accent3"/>
                </a:solidFill>
              </a:rPr>
              <a:t>CONTROL EXPERIMENT</a:t>
            </a:r>
            <a:endParaRPr lang="en-US" sz="1100" dirty="0"/>
          </a:p>
        </p:txBody>
      </p:sp>
      <p:sp>
        <p:nvSpPr>
          <p:cNvPr id="22" name="Text 19"/>
          <p:cNvSpPr txBox="1"/>
          <p:nvPr/>
        </p:nvSpPr>
        <p:spPr>
          <a:xfrm>
            <a:off x="685800" y="3511296"/>
            <a:ext cx="3749040" cy="365760"/>
          </a:xfrm>
          <a:prstGeom prst="rect">
            <a:avLst/>
          </a:prstGeom>
          <a:noFill/>
          <a:ln/>
        </p:spPr>
        <p:txBody>
          <a:bodyPr wrap="square" lIns="0" tIns="0" rIns="0" bIns="0" rtlCol="0" anchor="t"/>
          <a:lstStyle/>
          <a:p>
            <a:pPr marL="0" indent="0">
              <a:buNone/>
            </a:pPr>
            <a:r>
              <a:rPr lang="en-US" sz="1700" b="1" dirty="0">
                <a:solidFill>
                  <a:schemeClr val="tx1"/>
                </a:solidFill>
              </a:rPr>
              <a:t>Same everything, random picks</a:t>
            </a:r>
            <a:endParaRPr lang="en-US" sz="1700" dirty="0"/>
          </a:p>
        </p:txBody>
      </p:sp>
      <p:sp>
        <p:nvSpPr>
          <p:cNvPr id="23" name="Text 20"/>
          <p:cNvSpPr txBox="1"/>
          <p:nvPr/>
        </p:nvSpPr>
        <p:spPr>
          <a:xfrm>
            <a:off x="685800" y="3931920"/>
            <a:ext cx="3749040" cy="22402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Same 5-cycle schedule and the same 200 extra points (500 → 700)</a:t>
            </a:r>
            <a:endParaRPr lang="en-US" sz="1400" dirty="0"/>
          </a:p>
          <a:p>
            <a:pPr marL="177800" indent="-177800">
              <a:spcAft>
                <a:spcPts val="500"/>
              </a:spcAft>
              <a:buSzPct val="100000"/>
              <a:buChar char="•"/>
            </a:pPr>
            <a:r>
              <a:rPr lang="en-US" sz="1400" dirty="0">
                <a:solidFill>
                  <a:schemeClr val="tx1"/>
                </a:solidFill>
              </a:rPr>
              <a:t>Points chosen at random instead of by residual</a:t>
            </a:r>
            <a:endParaRPr lang="en-US" sz="1400" dirty="0"/>
          </a:p>
          <a:p>
            <a:pPr marL="177800" indent="-177800">
              <a:spcAft>
                <a:spcPts val="500"/>
              </a:spcAft>
              <a:buSzPct val="100000"/>
              <a:buChar char="•"/>
            </a:pPr>
            <a:r>
              <a:rPr lang="en-US" sz="1400" dirty="0">
                <a:solidFill>
                  <a:schemeClr val="tx1"/>
                </a:solidFill>
              </a:rPr>
              <a:t>Separates where the points go from how many there are</a:t>
            </a:r>
            <a:endParaRPr lang="en-US" sz="1400" dirty="0"/>
          </a:p>
          <a:p>
            <a:pPr marL="177800" indent="-177800">
              <a:spcAft>
                <a:spcPts val="500"/>
              </a:spcAft>
              <a:buSzPct val="100000"/>
              <a:buChar char="•"/>
            </a:pPr>
            <a:r>
              <a:rPr lang="en-US" sz="1400" b="1" dirty="0">
                <a:solidFill>
                  <a:schemeClr val="tx1"/>
                </a:solidFill>
              </a:rPr>
              <a:t>Worst candidate squared residual (RAR): 3,700 after cycle 1, 0.035 after cycle 3</a:t>
            </a:r>
            <a:endParaRPr lang="en-US" sz="1400" dirty="0"/>
          </a:p>
        </p:txBody>
      </p:sp>
      <p:pic>
        <p:nvPicPr>
          <p:cNvPr id="24" name="Added points: control vs RAR" descr="Added points: control vs RAR"/>
          <p:cNvPicPr>
            <a:picLocks noChangeAspect="1"/>
          </p:cNvPicPr>
          <p:nvPr/>
        </p:nvPicPr>
        <p:blipFill>
          <a:blip r:embed="rId3"/>
          <a:stretch>
            <a:fillRect/>
          </a:stretch>
        </p:blipFill>
        <p:spPr>
          <a:xfrm>
            <a:off x="4846320" y="3017520"/>
            <a:ext cx="6885432" cy="2868930"/>
          </a:xfrm>
          <a:prstGeom prst="rect">
            <a:avLst/>
          </a:prstGeom>
        </p:spPr>
      </p:pic>
      <p:sp>
        <p:nvSpPr>
          <p:cNvPr id="25" name="Text 21"/>
          <p:cNvSpPr txBox="1"/>
          <p:nvPr/>
        </p:nvSpPr>
        <p:spPr>
          <a:xfrm>
            <a:off x="4846320" y="5913882"/>
            <a:ext cx="6885432" cy="274320"/>
          </a:xfrm>
          <a:prstGeom prst="rect">
            <a:avLst/>
          </a:prstGeom>
          <a:noFill/>
          <a:ln/>
        </p:spPr>
        <p:txBody>
          <a:bodyPr wrap="square" lIns="0" tIns="0" rIns="0" bIns="0" rtlCol="0" anchor="ctr"/>
          <a:lstStyle/>
          <a:p>
            <a:pPr marL="0" indent="0" algn="ctr">
              <a:buNone/>
            </a:pPr>
            <a:r>
              <a:rPr lang="en-US" sz="1100" i="1" dirty="0">
                <a:solidFill>
                  <a:schemeClr val="accent4"/>
                </a:solidFill>
              </a:rPr>
              <a:t>Red = the 200 added points.  Left: random control.  Right: RAR clusters them along t ≈ 0.</a:t>
            </a:r>
            <a:endParaRPr lang="en-US" sz="1100" dirty="0"/>
          </a:p>
        </p:txBody>
      </p:sp>
      <p:sp>
        <p:nvSpPr>
          <p:cNvPr id="2"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Fix 2: results, with the control</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Three runs on the same machine, same seed and same training budget</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5577840" cy="1871472"/>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rPr>
                        <a:t>Metric</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lgn="ctr">
                        <a:buNone/>
                      </a:pPr>
                      <a:r>
                        <a:rPr lang="en-US" sz="1400" b="1" dirty="0">
                          <a:solidFill>
                            <a:srgbClr val="FFFFFF"/>
                          </a:solidFill>
                        </a:rPr>
                        <a:t>Baseline: 500 fixed</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lgn="ctr">
                        <a:buNone/>
                      </a:pPr>
                      <a:r>
                        <a:rPr lang="en-US" sz="1400" b="1" dirty="0">
                          <a:solidFill>
                            <a:srgbClr val="FFFFFF"/>
                          </a:solidFill>
                        </a:rPr>
                        <a:t>Random +200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tc>
                  <a:txBody>
                    <a:bodyPr/>
                    <a:lstStyle/>
                    <a:p>
                      <a:pPr marL="0" indent="0" algn="ctr">
                        <a:buNone/>
                      </a:pPr>
                      <a:r>
                        <a:rPr lang="en-US" sz="1400" b="1" dirty="0">
                          <a:solidFill>
                            <a:srgbClr val="FFFFFF"/>
                          </a:solidFill>
                        </a:rPr>
                        <a:t>RAR +200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004AAD"/>
                    </a:solidFill>
                  </a:tcPr>
                </a:tc>
                <a:extLst>
                  <a:ext uri="{0D108BD9-81ED-4DB2-BD59-A6C34878D82A}">
                    <a16:rowId xmlns:a16="http://schemas.microsoft.com/office/drawing/2014/main" val="10000"/>
                  </a:ext>
                </a:extLst>
              </a:tr>
              <a:tr h="457200">
                <a:tc>
                  <a:txBody>
                    <a:bodyPr/>
                    <a:lstStyle/>
                    <a:p>
                      <a:pPr marL="0" indent="0" algn="l">
                        <a:buNone/>
                      </a:pPr>
                      <a:r>
                        <a:rPr lang="en-US" sz="1400" b="1" dirty="0">
                          <a:solidFill>
                            <a:srgbClr val="0D1B2A"/>
                          </a:solidFill>
                        </a:rPr>
                        <a:t>Relative L2 error</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1.29 %</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0.84 %</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7A46"/>
                          </a:solidFill>
                        </a:rPr>
                        <a:t>0.79 %</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00" b="1" dirty="0">
                          <a:solidFill>
                            <a:srgbClr val="0D1B2A"/>
                          </a:solidFill>
                        </a:rPr>
                        <a:t>Max error (t &gt; 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0.069</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0.060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7A46"/>
                          </a:solidFill>
                        </a:rPr>
                        <a:t>0.032</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400" b="1" dirty="0">
                          <a:solidFill>
                            <a:srgbClr val="0D1B2A"/>
                          </a:solidFill>
                        </a:rPr>
                        <a:t>PDE test residual</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D1B2A"/>
                          </a:solidFill>
                        </a:rPr>
                        <a:t>18.7</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B3372F"/>
                          </a:solidFill>
                        </a:rPr>
                        <a:t>99.0</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1E7A46"/>
                          </a:solidFill>
                        </a:rPr>
                        <a:t>0.11</a:t>
                      </a:r>
                      <a:endParaRPr lang="en-US" sz="1400" dirty="0"/>
                    </a:p>
                  </a:txBody>
                  <a:tcPr marL="73152" marR="73152" marT="36576" marB="36576"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Honest reading"/>
          <p:cNvSpPr/>
          <p:nvPr/>
        </p:nvSpPr>
        <p:spPr>
          <a:xfrm>
            <a:off x="6263640" y="1737360"/>
            <a:ext cx="5468112" cy="1920240"/>
          </a:xfrm>
          <a:prstGeom prst="rect">
            <a:avLst/>
          </a:prstGeom>
          <a:solidFill>
            <a:schemeClr val="bg2"/>
          </a:solidFill>
          <a:ln w="9525">
            <a:solidFill>
              <a:srgbClr val="D8E6F5"/>
            </a:solidFill>
            <a:prstDash val="solid"/>
          </a:ln>
        </p:spPr>
      </p:sp>
      <p:sp>
        <p:nvSpPr>
          <p:cNvPr id="8" name="Text 4"/>
          <p:cNvSpPr txBox="1"/>
          <p:nvPr/>
        </p:nvSpPr>
        <p:spPr>
          <a:xfrm>
            <a:off x="6446520" y="1810512"/>
            <a:ext cx="5120640" cy="1783080"/>
          </a:xfrm>
          <a:prstGeom prst="rect">
            <a:avLst/>
          </a:prstGeom>
          <a:noFill/>
          <a:ln/>
        </p:spPr>
        <p:txBody>
          <a:bodyPr wrap="square" lIns="0" tIns="0" rIns="0" bIns="0" rtlCol="0" anchor="t"/>
          <a:lstStyle/>
          <a:p>
            <a:pPr marL="0" indent="0">
              <a:buNone/>
            </a:pPr>
            <a:r>
              <a:rPr lang="en-US" sz="1600" b="1" dirty="0">
                <a:solidFill>
                  <a:schemeClr val="accent1"/>
                </a:solidFill>
              </a:rPr>
              <a:t>The honest reading</a:t>
            </a:r>
            <a:endParaRPr lang="en-US" sz="1400" dirty="0"/>
          </a:p>
          <a:p>
            <a:pPr marL="177800" indent="-177800">
              <a:spcAft>
                <a:spcPts val="400"/>
              </a:spcAft>
              <a:buSzPct val="100000"/>
              <a:buChar char="•"/>
            </a:pPr>
            <a:r>
              <a:rPr lang="en-US" sz="1400" dirty="0">
                <a:solidFill>
                  <a:schemeClr val="tx1"/>
                </a:solidFill>
              </a:rPr>
              <a:t>RAR's own gain is the worst case: max error halved versus random points, residual in the hard region 99 → 0.11.</a:t>
            </a:r>
            <a:endParaRPr lang="en-US" sz="1400" dirty="0"/>
          </a:p>
          <a:p>
            <a:pPr marL="177800" indent="-177800">
              <a:buSzPct val="100000"/>
              <a:buChar char="•"/>
            </a:pPr>
            <a:r>
              <a:rPr lang="en-US" sz="1400" dirty="0">
                <a:solidFill>
                  <a:schemeClr val="tx1"/>
                </a:solidFill>
              </a:rPr>
              <a:t>Average error improves almost as much with random points: that part comes from the extra points and the cycled schedule.</a:t>
            </a:r>
            <a:endParaRPr lang="en-US" sz="1400" dirty="0"/>
          </a:p>
        </p:txBody>
      </p:sp>
      <p:pic>
        <p:nvPicPr>
          <p:cNvPr id="9" name="Error maps: baseline, random control, RAR" descr="Error maps: baseline, random control, RAR"/>
          <p:cNvPicPr>
            <a:picLocks noChangeAspect="1"/>
          </p:cNvPicPr>
          <p:nvPr/>
        </p:nvPicPr>
        <p:blipFill>
          <a:blip r:embed="rId3"/>
          <a:stretch>
            <a:fillRect/>
          </a:stretch>
        </p:blipFill>
        <p:spPr>
          <a:xfrm>
            <a:off x="1979676" y="3840480"/>
            <a:ext cx="8229600" cy="2286000"/>
          </a:xfrm>
          <a:prstGeom prst="rect">
            <a:avLst/>
          </a:prstGeom>
        </p:spPr>
      </p:pic>
      <p:sp>
        <p:nvSpPr>
          <p:cNvPr id="10" name="Text 5"/>
          <p:cNvSpPr txBox="1"/>
          <p:nvPr/>
        </p:nvSpPr>
        <p:spPr>
          <a:xfrm>
            <a:off x="457200" y="6144768"/>
            <a:ext cx="11274552" cy="237744"/>
          </a:xfrm>
          <a:prstGeom prst="rect">
            <a:avLst/>
          </a:prstGeom>
          <a:noFill/>
          <a:ln/>
        </p:spPr>
        <p:txBody>
          <a:bodyPr wrap="square" lIns="0" tIns="0" rIns="0" bIns="0" rtlCol="0" anchor="ctr"/>
          <a:lstStyle/>
          <a:p>
            <a:pPr marL="0" indent="0" algn="ctr">
              <a:buNone/>
            </a:pPr>
            <a:r>
              <a:rPr lang="en-US" sz="1100" i="1" dirty="0">
                <a:solidFill>
                  <a:schemeClr val="accent4"/>
                </a:solidFill>
              </a:rPr>
              <a:t>Error maps on one colour scale (0 to 0.069): baseline  ·  random control  ·  RAR</a:t>
            </a:r>
            <a:endParaRPr lang="en-US" sz="11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Live demo</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Subtitle"/>
          <p:cNvSpPr txBox="1"/>
          <p:nvPr/>
        </p:nvSpPr>
        <p:spPr>
          <a:xfrm>
            <a:off x="457200" y="1243584"/>
            <a:ext cx="10058400" cy="329184"/>
          </a:xfrm>
          <a:prstGeom prst="rect">
            <a:avLst/>
          </a:prstGeom>
          <a:noFill/>
          <a:ln/>
        </p:spPr>
        <p:txBody>
          <a:bodyPr wrap="square" lIns="0" tIns="0" rIns="0" bIns="0" rtlCol="0" anchor="ctr"/>
          <a:lstStyle/>
          <a:p>
            <a:pPr marL="0" indent="0">
              <a:buNone/>
            </a:pPr>
            <a:r>
              <a:rPr lang="en-US" sz="1500" i="1" dirty="0">
                <a:solidFill>
                  <a:schemeClr val="accent4"/>
                </a:solidFill>
              </a:rPr>
              <a:t>Saved models load in seconds; one short live training run</a:t>
            </a:r>
            <a:endParaRPr lang="en-US" sz="1500" dirty="0"/>
          </a:p>
        </p:txBody>
      </p:sp>
      <p:sp>
        <p:nvSpPr>
          <p:cNvPr id="6" name="Terminal"/>
          <p:cNvSpPr/>
          <p:nvPr/>
        </p:nvSpPr>
        <p:spPr>
          <a:xfrm>
            <a:off x="457200" y="1783080"/>
            <a:ext cx="6949440" cy="4526280"/>
          </a:xfrm>
          <a:prstGeom prst="roundRect">
            <a:avLst>
              <a:gd name="adj" fmla="val 1616"/>
            </a:avLst>
          </a:prstGeom>
          <a:solidFill>
            <a:schemeClr val="tx1"/>
          </a:solidFill>
          <a:ln w="12700">
            <a:solidFill>
              <a:schemeClr val="tx1"/>
            </a:solidFill>
            <a:prstDash val="solid"/>
          </a:ln>
        </p:spPr>
      </p:sp>
      <p:sp>
        <p:nvSpPr>
          <p:cNvPr id="7" name="Text 4"/>
          <p:cNvSpPr txBox="1"/>
          <p:nvPr/>
        </p:nvSpPr>
        <p:spPr>
          <a:xfrm>
            <a:off x="685800" y="2011680"/>
            <a:ext cx="6583680" cy="4206240"/>
          </a:xfrm>
          <a:prstGeom prst="rect">
            <a:avLst/>
          </a:prstGeom>
          <a:noFill/>
          <a:ln/>
        </p:spPr>
        <p:txBody>
          <a:bodyPr wrap="square" lIns="0" tIns="0" rIns="0" bIns="0" rtlCol="0" anchor="t"/>
          <a:lstStyle/>
          <a:p>
            <a:pPr marL="0" indent="0">
              <a:buNone/>
            </a:pPr>
            <a:r>
              <a:rPr lang="en-US" sz="1450" dirty="0">
                <a:solidFill>
                  <a:srgbClr val="7FD1A1"/>
                </a:solidFill>
                <a:latin typeface="Courier New" pitchFamily="34" charset="0"/>
                <a:ea typeface="Courier New" pitchFamily="34" charset="-122"/>
                <a:cs typeface="Courier New" pitchFamily="34" charset="-120"/>
              </a:rPr>
              <a:t># Part 1: reproduction</a:t>
            </a:r>
            <a:endParaRPr lang="en-US" sz="1450" dirty="0"/>
          </a:p>
          <a:p>
            <a:pPr marL="0" indent="0">
              <a:buNone/>
            </a:pPr>
            <a:r>
              <a:rPr lang="en-US" sz="1450" dirty="0">
                <a:solidFill>
                  <a:srgbClr val="FFFFFF"/>
                </a:solidFill>
                <a:latin typeface="Courier New" pitchFamily="34" charset="0"/>
                <a:ea typeface="Courier New" pitchFamily="34" charset="-122"/>
                <a:cs typeface="Courier New" pitchFamily="34" charset="-120"/>
              </a:rPr>
              <a:t>python experiments/heat.py --load --show</a:t>
            </a:r>
            <a:endParaRPr lang="en-US" sz="1450" dirty="0"/>
          </a:p>
          <a:p>
            <a:pPr marL="0" indent="0">
              <a:buNone/>
            </a:pPr>
            <a:r>
              <a:rPr lang="en-US" sz="1450" dirty="0">
                <a:solidFill>
                  <a:srgbClr val="FFFFFF"/>
                </a:solidFill>
                <a:latin typeface="Courier New" pitchFamily="34" charset="0"/>
                <a:ea typeface="Courier New" pitchFamily="34" charset="-122"/>
                <a:cs typeface="Courier New" pitchFamily="34" charset="-120"/>
              </a:rPr>
              <a:t>python experiments/spring_inverse.py --epochs 5000 --show</a:t>
            </a:r>
            <a:endParaRPr lang="en-US" sz="1450" dirty="0"/>
          </a:p>
          <a:p>
            <a:pPr marL="0" indent="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marL="0" indent="0">
              <a:buNone/>
            </a:pPr>
            <a:r>
              <a:rPr lang="en-US" sz="1450" dirty="0">
                <a:solidFill>
                  <a:srgbClr val="7FD1A1"/>
                </a:solidFill>
                <a:latin typeface="Courier New" pitchFamily="34" charset="0"/>
                <a:ea typeface="Courier New" pitchFamily="34" charset="-122"/>
                <a:cs typeface="Courier New" pitchFamily="34" charset="-120"/>
              </a:rPr>
              <a:t># Part 2: improvements</a:t>
            </a:r>
            <a:endParaRPr lang="en-US" sz="1450" dirty="0"/>
          </a:p>
          <a:p>
            <a:pPr marL="0" indent="0">
              <a:buNone/>
            </a:pPr>
            <a:r>
              <a:rPr lang="en-US" sz="1450" dirty="0">
                <a:solidFill>
                  <a:srgbClr val="FFFFFF"/>
                </a:solidFill>
                <a:latin typeface="Courier New" pitchFamily="34" charset="0"/>
                <a:ea typeface="Courier New" pitchFamily="34" charset="-122"/>
                <a:cs typeface="Courier New" pitchFamily="34" charset="-120"/>
              </a:rPr>
              <a:t>python experiments/heat_improved.py --load --show</a:t>
            </a:r>
            <a:endParaRPr lang="en-US" sz="1450" dirty="0"/>
          </a:p>
          <a:p>
            <a:pPr marL="0" indent="0">
              <a:buNone/>
            </a:pPr>
            <a:r>
              <a:rPr lang="en-US" sz="1450" dirty="0">
                <a:solidFill>
                  <a:srgbClr val="FFFFFF"/>
                </a:solidFill>
                <a:latin typeface="Courier New" pitchFamily="34" charset="0"/>
                <a:ea typeface="Courier New" pitchFamily="34" charset="-122"/>
                <a:cs typeface="Courier New" pitchFamily="34" charset="-120"/>
              </a:rPr>
              <a:t>python experiments/consolidation_rar.py --load --show</a:t>
            </a:r>
            <a:endParaRPr lang="en-US" sz="1450" dirty="0"/>
          </a:p>
          <a:p>
            <a:pPr marL="0" indent="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marL="0" indent="0">
              <a:buNone/>
            </a:pPr>
            <a:r>
              <a:rPr lang="en-US" sz="1450" dirty="0">
                <a:solidFill>
                  <a:srgbClr val="7FD1A1"/>
                </a:solidFill>
                <a:latin typeface="Courier New" pitchFamily="34" charset="0"/>
                <a:ea typeface="Courier New" pitchFamily="34" charset="-122"/>
                <a:cs typeface="Courier New" pitchFamily="34" charset="-120"/>
              </a:rPr>
              <a:t># Reproduce everything (about 1 to 2 h on CPU)</a:t>
            </a:r>
            <a:endParaRPr lang="en-US" sz="1450" dirty="0"/>
          </a:p>
          <a:p>
            <a:pPr marL="0" indent="0">
              <a:buNone/>
            </a:pPr>
            <a:r>
              <a:rPr lang="en-US" sz="1450" dirty="0">
                <a:solidFill>
                  <a:srgbClr val="C9D6E4"/>
                </a:solidFill>
                <a:latin typeface="Courier New" pitchFamily="34" charset="0"/>
                <a:ea typeface="Courier New" pitchFamily="34" charset="-122"/>
                <a:cs typeface="Courier New" pitchFamily="34" charset="-120"/>
              </a:rPr>
              <a:t>python run_all.py</a:t>
            </a:r>
            <a:endParaRPr lang="en-US" sz="1450" dirty="0"/>
          </a:p>
          <a:p>
            <a:pPr marL="0" indent="0">
              <a:buNone/>
            </a:pPr>
            <a:r>
              <a:rPr lang="en-US" sz="1450" dirty="0">
                <a:solidFill>
                  <a:srgbClr val="C9D6E4"/>
                </a:solidFill>
                <a:latin typeface="Courier New" pitchFamily="34" charset="0"/>
                <a:ea typeface="Courier New" pitchFamily="34" charset="-122"/>
                <a:cs typeface="Courier New" pitchFamily="34" charset="-120"/>
              </a:rPr>
              <a:t>python run_part2.py</a:t>
            </a:r>
            <a:endParaRPr lang="en-US" sz="1450" dirty="0"/>
          </a:p>
        </p:txBody>
      </p:sp>
      <p:sp>
        <p:nvSpPr>
          <p:cNvPr id="8" name="WHAT TO WATCH box"/>
          <p:cNvSpPr/>
          <p:nvPr/>
        </p:nvSpPr>
        <p:spPr>
          <a:xfrm>
            <a:off x="7635240" y="1783080"/>
            <a:ext cx="4096512" cy="2148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9" name="WHAT TO WATCH top"/>
          <p:cNvSpPr/>
          <p:nvPr/>
        </p:nvSpPr>
        <p:spPr>
          <a:xfrm>
            <a:off x="7635240" y="1783080"/>
            <a:ext cx="4096512" cy="54864"/>
          </a:xfrm>
          <a:prstGeom prst="rect">
            <a:avLst/>
          </a:prstGeom>
          <a:solidFill>
            <a:schemeClr val="accent1"/>
          </a:solidFill>
          <a:ln w="12700">
            <a:solidFill>
              <a:schemeClr val="accent1"/>
            </a:solidFill>
            <a:prstDash val="solid"/>
          </a:ln>
        </p:spPr>
      </p:sp>
      <p:sp>
        <p:nvSpPr>
          <p:cNvPr id="10" name="Text 7"/>
          <p:cNvSpPr txBox="1"/>
          <p:nvPr/>
        </p:nvSpPr>
        <p:spPr>
          <a:xfrm>
            <a:off x="7863840" y="1965960"/>
            <a:ext cx="3639312"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WHAT TO WATCH</a:t>
            </a:r>
            <a:endParaRPr lang="en-US" sz="1100" dirty="0"/>
          </a:p>
        </p:txBody>
      </p:sp>
      <p:sp>
        <p:nvSpPr>
          <p:cNvPr id="11" name="Text 8"/>
          <p:cNvSpPr txBox="1"/>
          <p:nvPr/>
        </p:nvSpPr>
        <p:spPr>
          <a:xfrm>
            <a:off x="7863840" y="2276856"/>
            <a:ext cx="3639312" cy="1517904"/>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Heat: error bright on the edges</a:t>
            </a:r>
            <a:endParaRPr lang="en-US" sz="1400" dirty="0"/>
          </a:p>
          <a:p>
            <a:pPr marL="177800" indent="-177800">
              <a:spcAft>
                <a:spcPts val="500"/>
              </a:spcAft>
              <a:buSzPct val="100000"/>
              <a:buChar char="•"/>
            </a:pPr>
            <a:r>
              <a:rPr lang="en-US" sz="1400" dirty="0">
                <a:solidFill>
                  <a:schemeClr val="tx1"/>
                </a:solidFill>
              </a:rPr>
              <a:t>Spring: c and k printed as they move towards 0.4 and 4</a:t>
            </a:r>
            <a:endParaRPr lang="en-US" sz="1400" dirty="0"/>
          </a:p>
          <a:p>
            <a:pPr marL="177800" indent="-177800">
              <a:spcAft>
                <a:spcPts val="500"/>
              </a:spcAft>
              <a:buSzPct val="100000"/>
              <a:buChar char="•"/>
            </a:pPr>
            <a:r>
              <a:rPr lang="en-US" sz="1400" dirty="0">
                <a:solidFill>
                  <a:schemeClr val="tx1"/>
                </a:solidFill>
              </a:rPr>
              <a:t>Fix 1: edge error gone</a:t>
            </a:r>
            <a:endParaRPr lang="en-US" sz="1400" dirty="0"/>
          </a:p>
          <a:p>
            <a:pPr marL="177800" indent="-177800">
              <a:spcAft>
                <a:spcPts val="500"/>
              </a:spcAft>
              <a:buSzPct val="100000"/>
              <a:buChar char="•"/>
            </a:pPr>
            <a:r>
              <a:rPr lang="en-US" sz="1400" dirty="0">
                <a:solidFill>
                  <a:schemeClr val="tx1"/>
                </a:solidFill>
              </a:rPr>
              <a:t>Fix 2: points cluster near t = 0</a:t>
            </a:r>
            <a:endParaRPr lang="en-US" sz="1400" dirty="0"/>
          </a:p>
        </p:txBody>
      </p:sp>
      <p:sp>
        <p:nvSpPr>
          <p:cNvPr id="12" name="BEFORE THE REVIEW box"/>
          <p:cNvSpPr/>
          <p:nvPr/>
        </p:nvSpPr>
        <p:spPr>
          <a:xfrm>
            <a:off x="7635240" y="4160520"/>
            <a:ext cx="4096512" cy="214884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3" name="BEFORE THE REVIEW top"/>
          <p:cNvSpPr/>
          <p:nvPr/>
        </p:nvSpPr>
        <p:spPr>
          <a:xfrm>
            <a:off x="7635240" y="4160520"/>
            <a:ext cx="4096512" cy="54864"/>
          </a:xfrm>
          <a:prstGeom prst="rect">
            <a:avLst/>
          </a:prstGeom>
          <a:solidFill>
            <a:schemeClr val="accent3"/>
          </a:solidFill>
          <a:ln w="12700">
            <a:solidFill>
              <a:schemeClr val="accent3"/>
            </a:solidFill>
            <a:prstDash val="solid"/>
          </a:ln>
        </p:spPr>
      </p:sp>
      <p:sp>
        <p:nvSpPr>
          <p:cNvPr id="14" name="Text 11"/>
          <p:cNvSpPr txBox="1"/>
          <p:nvPr/>
        </p:nvSpPr>
        <p:spPr>
          <a:xfrm>
            <a:off x="7863840" y="4343400"/>
            <a:ext cx="3639312" cy="256032"/>
          </a:xfrm>
          <a:prstGeom prst="rect">
            <a:avLst/>
          </a:prstGeom>
          <a:noFill/>
          <a:ln/>
        </p:spPr>
        <p:txBody>
          <a:bodyPr wrap="square" lIns="0" tIns="0" rIns="0" bIns="0" rtlCol="0" anchor="ctr"/>
          <a:lstStyle/>
          <a:p>
            <a:pPr marL="0" indent="0">
              <a:buNone/>
            </a:pPr>
            <a:r>
              <a:rPr lang="en-US" sz="1100" b="1" kern="0" spc="300" dirty="0">
                <a:solidFill>
                  <a:schemeClr val="accent3"/>
                </a:solidFill>
              </a:rPr>
              <a:t>BEFORE THE REVIEW</a:t>
            </a:r>
            <a:endParaRPr lang="en-US" sz="1100" dirty="0"/>
          </a:p>
        </p:txBody>
      </p:sp>
      <p:sp>
        <p:nvSpPr>
          <p:cNvPr id="15" name="Text 12"/>
          <p:cNvSpPr txBox="1"/>
          <p:nvPr/>
        </p:nvSpPr>
        <p:spPr>
          <a:xfrm>
            <a:off x="7863840" y="4654296"/>
            <a:ext cx="3639312" cy="1517904"/>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Back up the results folder: the live spring run overwrites results/spring_inverse</a:t>
            </a:r>
            <a:endParaRPr lang="en-US" sz="1400" dirty="0"/>
          </a:p>
          <a:p>
            <a:pPr marL="177800" indent="-177800">
              <a:spcAft>
                <a:spcPts val="500"/>
              </a:spcAft>
              <a:buSzPct val="100000"/>
              <a:buChar char="•"/>
            </a:pPr>
            <a:r>
              <a:rPr lang="en-US" sz="1400" dirty="0">
                <a:solidFill>
                  <a:schemeClr val="tx1"/>
                </a:solidFill>
              </a:rPr>
              <a:t>Keep the figures open as a fallback</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Conclusions</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WHAT WE SHOWED box"/>
          <p:cNvSpPr/>
          <p:nvPr/>
        </p:nvSpPr>
        <p:spPr>
          <a:xfrm>
            <a:off x="457200" y="1463040"/>
            <a:ext cx="5532120" cy="32461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6" name="WHAT WE SHOWED top"/>
          <p:cNvSpPr/>
          <p:nvPr/>
        </p:nvSpPr>
        <p:spPr>
          <a:xfrm>
            <a:off x="457200" y="1463040"/>
            <a:ext cx="5532120" cy="54864"/>
          </a:xfrm>
          <a:prstGeom prst="rect">
            <a:avLst/>
          </a:prstGeom>
          <a:solidFill>
            <a:schemeClr val="accent2"/>
          </a:solidFill>
          <a:ln w="12700">
            <a:solidFill>
              <a:schemeClr val="accent2"/>
            </a:solidFill>
            <a:prstDash val="solid"/>
          </a:ln>
        </p:spPr>
      </p:sp>
      <p:sp>
        <p:nvSpPr>
          <p:cNvPr id="7" name="Text 4"/>
          <p:cNvSpPr txBox="1"/>
          <p:nvPr/>
        </p:nvSpPr>
        <p:spPr>
          <a:xfrm>
            <a:off x="685800" y="1645920"/>
            <a:ext cx="5074920" cy="256032"/>
          </a:xfrm>
          <a:prstGeom prst="rect">
            <a:avLst/>
          </a:prstGeom>
          <a:noFill/>
          <a:ln/>
        </p:spPr>
        <p:txBody>
          <a:bodyPr wrap="square" lIns="0" tIns="0" rIns="0" bIns="0" rtlCol="0" anchor="ctr"/>
          <a:lstStyle/>
          <a:p>
            <a:pPr marL="0" indent="0">
              <a:buNone/>
            </a:pPr>
            <a:r>
              <a:rPr lang="en-US" sz="1100" b="1" kern="0" spc="300" dirty="0">
                <a:solidFill>
                  <a:schemeClr val="accent2"/>
                </a:solidFill>
              </a:rPr>
              <a:t>WHAT WE SHOWED</a:t>
            </a:r>
            <a:endParaRPr lang="en-US" sz="1100" dirty="0"/>
          </a:p>
        </p:txBody>
      </p:sp>
      <p:sp>
        <p:nvSpPr>
          <p:cNvPr id="8" name="Text 5"/>
          <p:cNvSpPr txBox="1"/>
          <p:nvPr/>
        </p:nvSpPr>
        <p:spPr>
          <a:xfrm>
            <a:off x="685800" y="1956816"/>
            <a:ext cx="5074920" cy="2615184"/>
          </a:xfrm>
          <a:prstGeom prst="rect">
            <a:avLst/>
          </a:prstGeom>
          <a:noFill/>
          <a:ln/>
        </p:spPr>
        <p:txBody>
          <a:bodyPr wrap="square" lIns="0" tIns="0" rIns="0" bIns="0" rtlCol="0" anchor="t"/>
          <a:lstStyle/>
          <a:p>
            <a:pPr marL="177800" indent="-177800">
              <a:spcAft>
                <a:spcPts val="500"/>
              </a:spcAft>
              <a:buSzPct val="100000"/>
              <a:buChar char="•"/>
            </a:pPr>
            <a:r>
              <a:rPr lang="en-US" sz="1700" dirty="0">
                <a:solidFill>
                  <a:schemeClr val="tx1"/>
                </a:solidFill>
              </a:rPr>
              <a:t>All three paper results reproduced: errors about 1 %, c and k within 3 %</a:t>
            </a:r>
            <a:endParaRPr lang="en-US" sz="1700" dirty="0"/>
          </a:p>
          <a:p>
            <a:pPr marL="177800" indent="-177800">
              <a:spcAft>
                <a:spcPts val="500"/>
              </a:spcAft>
              <a:buSzPct val="100000"/>
              <a:buChar char="•"/>
            </a:pPr>
            <a:r>
              <a:rPr lang="en-US" sz="1700" dirty="0">
                <a:solidFill>
                  <a:schemeClr val="tx1"/>
                </a:solidFill>
              </a:rPr>
              <a:t>Hard boundary: heat error about 220× lower, boundary exact</a:t>
            </a:r>
            <a:endParaRPr lang="en-US" sz="1700" dirty="0"/>
          </a:p>
          <a:p>
            <a:pPr marL="177800" indent="-177800">
              <a:spcAft>
                <a:spcPts val="500"/>
              </a:spcAft>
              <a:buSzPct val="100000"/>
              <a:buChar char="•"/>
            </a:pPr>
            <a:r>
              <a:rPr lang="en-US" sz="1700" dirty="0">
                <a:solidFill>
                  <a:schemeClr val="tx1"/>
                </a:solidFill>
              </a:rPr>
              <a:t>RAR: worst-case consolidation error halved, residual in the hard layer 18.7 → 0.11</a:t>
            </a:r>
            <a:endParaRPr lang="en-US" sz="1700" dirty="0"/>
          </a:p>
          <a:p>
            <a:pPr marL="177800" indent="-177800">
              <a:spcAft>
                <a:spcPts val="500"/>
              </a:spcAft>
              <a:buSzPct val="100000"/>
              <a:buChar char="•"/>
            </a:pPr>
            <a:r>
              <a:rPr lang="en-US" sz="1700" dirty="0">
                <a:solidFill>
                  <a:schemeClr val="tx1"/>
                </a:solidFill>
              </a:rPr>
              <a:t>A control experiment keeps the claims honest</a:t>
            </a:r>
            <a:endParaRPr lang="en-US" sz="1700" dirty="0"/>
          </a:p>
        </p:txBody>
      </p:sp>
      <p:sp>
        <p:nvSpPr>
          <p:cNvPr id="9" name="LIMITATIONS AND NEXT STEPS box"/>
          <p:cNvSpPr/>
          <p:nvPr/>
        </p:nvSpPr>
        <p:spPr>
          <a:xfrm>
            <a:off x="6199632" y="1463040"/>
            <a:ext cx="5532120" cy="3246120"/>
          </a:xfrm>
          <a:prstGeom prst="rect">
            <a:avLst/>
          </a:prstGeom>
          <a:solidFill>
            <a:schemeClr val="bg1"/>
          </a:solidFill>
          <a:ln w="9525">
            <a:solidFill>
              <a:schemeClr val="accent5"/>
            </a:solidFill>
            <a:prstDash val="solid"/>
          </a:ln>
          <a:effectLst>
            <a:outerShdw blurRad="50800" dist="12700" dir="5400000" algn="bl" rotWithShape="0">
              <a:srgbClr val="0D1B2A">
                <a:alpha val="12000"/>
              </a:srgbClr>
            </a:outerShdw>
          </a:effectLst>
        </p:spPr>
      </p:sp>
      <p:sp>
        <p:nvSpPr>
          <p:cNvPr id="10" name="LIMITATIONS AND NEXT STEPS top"/>
          <p:cNvSpPr/>
          <p:nvPr/>
        </p:nvSpPr>
        <p:spPr>
          <a:xfrm>
            <a:off x="6199632" y="1463040"/>
            <a:ext cx="5532120" cy="54864"/>
          </a:xfrm>
          <a:prstGeom prst="rect">
            <a:avLst/>
          </a:prstGeom>
          <a:solidFill>
            <a:schemeClr val="accent1"/>
          </a:solidFill>
          <a:ln w="12700">
            <a:solidFill>
              <a:schemeClr val="accent1"/>
            </a:solidFill>
            <a:prstDash val="solid"/>
          </a:ln>
        </p:spPr>
      </p:sp>
      <p:sp>
        <p:nvSpPr>
          <p:cNvPr id="11" name="Text 8"/>
          <p:cNvSpPr txBox="1"/>
          <p:nvPr/>
        </p:nvSpPr>
        <p:spPr>
          <a:xfrm>
            <a:off x="6428232" y="1645920"/>
            <a:ext cx="5074920" cy="256032"/>
          </a:xfrm>
          <a:prstGeom prst="rect">
            <a:avLst/>
          </a:prstGeom>
          <a:noFill/>
          <a:ln/>
        </p:spPr>
        <p:txBody>
          <a:bodyPr wrap="square" lIns="0" tIns="0" rIns="0" bIns="0" rtlCol="0" anchor="ctr"/>
          <a:lstStyle/>
          <a:p>
            <a:pPr marL="0" indent="0">
              <a:buNone/>
            </a:pPr>
            <a:r>
              <a:rPr lang="en-US" sz="1100" b="1" kern="0" spc="300" dirty="0">
                <a:solidFill>
                  <a:schemeClr val="accent1"/>
                </a:solidFill>
              </a:rPr>
              <a:t>LIMITATIONS AND NEXT STEPS</a:t>
            </a:r>
            <a:endParaRPr lang="en-US" sz="1100" dirty="0"/>
          </a:p>
        </p:txBody>
      </p:sp>
      <p:sp>
        <p:nvSpPr>
          <p:cNvPr id="12" name="Text 9"/>
          <p:cNvSpPr txBox="1"/>
          <p:nvPr/>
        </p:nvSpPr>
        <p:spPr>
          <a:xfrm>
            <a:off x="6428232" y="1956816"/>
            <a:ext cx="5074920" cy="2615184"/>
          </a:xfrm>
          <a:prstGeom prst="rect">
            <a:avLst/>
          </a:prstGeom>
          <a:noFill/>
          <a:ln/>
        </p:spPr>
        <p:txBody>
          <a:bodyPr wrap="square" lIns="0" tIns="0" rIns="0" bIns="0" rtlCol="0" anchor="t"/>
          <a:lstStyle/>
          <a:p>
            <a:pPr marL="177800" indent="-177800">
              <a:spcAft>
                <a:spcPts val="500"/>
              </a:spcAft>
              <a:buSzPct val="100000"/>
              <a:buChar char="•"/>
            </a:pPr>
            <a:r>
              <a:rPr lang="en-US" sz="1700" dirty="0">
                <a:solidFill>
                  <a:schemeClr val="tx1"/>
                </a:solidFill>
              </a:rPr>
              <a:t>Single seed; numbers vary slightly between machines</a:t>
            </a:r>
            <a:endParaRPr lang="en-US" sz="1700" dirty="0"/>
          </a:p>
          <a:p>
            <a:pPr marL="177800" indent="-177800">
              <a:spcAft>
                <a:spcPts val="500"/>
              </a:spcAft>
              <a:buSzPct val="100000"/>
              <a:buChar char="•"/>
            </a:pPr>
            <a:r>
              <a:rPr lang="en-US" sz="1700" dirty="0">
                <a:solidFill>
                  <a:schemeClr val="tx1"/>
                </a:solidFill>
              </a:rPr>
              <a:t>Paper's output constraints (0 ≤ p ≤ 1, T &gt; 0) not implemented</a:t>
            </a:r>
            <a:endParaRPr lang="en-US" sz="1700" dirty="0"/>
          </a:p>
          <a:p>
            <a:pPr marL="177800" indent="-177800">
              <a:spcAft>
                <a:spcPts val="500"/>
              </a:spcAft>
              <a:buSzPct val="100000"/>
              <a:buChar char="•"/>
            </a:pPr>
            <a:r>
              <a:rPr lang="en-US" sz="1700" dirty="0">
                <a:solidFill>
                  <a:schemeClr val="tx1"/>
                </a:solidFill>
              </a:rPr>
              <a:t>Part of the hard-BC gain comes from better L-BFGS convergence</a:t>
            </a:r>
            <a:endParaRPr lang="en-US" sz="1700" dirty="0"/>
          </a:p>
          <a:p>
            <a:pPr marL="177800" indent="-177800">
              <a:spcAft>
                <a:spcPts val="500"/>
              </a:spcAft>
              <a:buSzPct val="100000"/>
              <a:buChar char="•"/>
            </a:pPr>
            <a:r>
              <a:rPr lang="en-US" sz="1700" dirty="0">
                <a:solidFill>
                  <a:schemeClr val="tx1"/>
                </a:solidFill>
              </a:rPr>
              <a:t>Next: multi-seed averages, hard initial condition for consolidation, coupled poromechanics (paper Eq. 5.1 to 5.2)</a:t>
            </a:r>
            <a:endParaRPr lang="en-US" sz="1700" dirty="0"/>
          </a:p>
        </p:txBody>
      </p:sp>
      <p:sp>
        <p:nvSpPr>
          <p:cNvPr id="13" name="Dark box"/>
          <p:cNvSpPr/>
          <p:nvPr/>
        </p:nvSpPr>
        <p:spPr>
          <a:xfrm>
            <a:off x="457200" y="5029200"/>
            <a:ext cx="11274552" cy="1097280"/>
          </a:xfrm>
          <a:prstGeom prst="roundRect">
            <a:avLst>
              <a:gd name="adj" fmla="val 6667"/>
            </a:avLst>
          </a:prstGeom>
          <a:solidFill>
            <a:schemeClr val="tx1"/>
          </a:solidFill>
          <a:ln w="12700">
            <a:solidFill>
              <a:schemeClr val="tx1"/>
            </a:solidFill>
            <a:prstDash val="solid"/>
          </a:ln>
        </p:spPr>
      </p:sp>
      <p:sp>
        <p:nvSpPr>
          <p:cNvPr id="14" name="Text 11"/>
          <p:cNvSpPr txBox="1"/>
          <p:nvPr/>
        </p:nvSpPr>
        <p:spPr>
          <a:xfrm>
            <a:off x="731520" y="5029200"/>
            <a:ext cx="10725912" cy="1097280"/>
          </a:xfrm>
          <a:prstGeom prst="rect">
            <a:avLst/>
          </a:prstGeom>
          <a:noFill/>
          <a:ln/>
        </p:spPr>
        <p:txBody>
          <a:bodyPr wrap="square" lIns="0" tIns="0" rIns="0" bIns="0" rtlCol="0" anchor="ctr"/>
          <a:lstStyle/>
          <a:p>
            <a:pPr marL="0" indent="0">
              <a:buNone/>
            </a:pPr>
            <a:r>
              <a:rPr lang="en-US" sz="1900" i="1" dirty="0">
                <a:solidFill>
                  <a:schemeClr val="bg1"/>
                </a:solidFill>
              </a:rPr>
              <a:t>In PINNs, how you impose the constraints and where you place the training points matter as much as the network itself.</a:t>
            </a:r>
            <a:endParaRPr lang="en-US" sz="19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457200" y="457200"/>
            <a:ext cx="10058400" cy="621792"/>
          </a:xfrm>
          <a:prstGeom prst="rect">
            <a:avLst/>
          </a:prstGeom>
          <a:noFill/>
          <a:ln/>
        </p:spPr>
        <p:txBody>
          <a:bodyPr wrap="square" lIns="0" tIns="0" rIns="0" bIns="0" rtlCol="0" anchor="ctr"/>
          <a:lstStyle/>
          <a:p>
            <a:pPr marL="0" indent="0">
              <a:buNone/>
            </a:pPr>
            <a:r>
              <a:rPr lang="en-US" sz="3200" b="1" dirty="0">
                <a:solidFill>
                  <a:schemeClr val="tx1"/>
                </a:solidFill>
              </a:rPr>
              <a:t>References</a:t>
            </a:r>
            <a:endParaRPr lang="en-US" sz="3200" dirty="0"/>
          </a:p>
        </p:txBody>
      </p:sp>
      <p:sp>
        <p:nvSpPr>
          <p:cNvPr id="4" name="Title rule"/>
          <p:cNvSpPr/>
          <p:nvPr/>
        </p:nvSpPr>
        <p:spPr>
          <a:xfrm>
            <a:off x="457200" y="1097280"/>
            <a:ext cx="1005840" cy="36576"/>
          </a:xfrm>
          <a:prstGeom prst="rect">
            <a:avLst/>
          </a:prstGeom>
          <a:solidFill>
            <a:schemeClr val="accent1"/>
          </a:solidFill>
          <a:ln w="12700">
            <a:solidFill>
              <a:schemeClr val="accent1"/>
            </a:solidFill>
            <a:prstDash val="solid"/>
          </a:ln>
        </p:spPr>
      </p:sp>
      <p:sp>
        <p:nvSpPr>
          <p:cNvPr id="5" name="Text 2"/>
          <p:cNvSpPr txBox="1"/>
          <p:nvPr/>
        </p:nvSpPr>
        <p:spPr>
          <a:xfrm>
            <a:off x="457200" y="1463040"/>
            <a:ext cx="11274552" cy="4846320"/>
          </a:xfrm>
          <a:prstGeom prst="rect">
            <a:avLst/>
          </a:prstGeom>
          <a:noFill/>
          <a:ln/>
        </p:spPr>
        <p:txBody>
          <a:bodyPr wrap="square" lIns="0" tIns="0" rIns="0" bIns="0" rtlCol="0" anchor="t"/>
          <a:lstStyle/>
          <a:p>
            <a:pPr marL="0" indent="0">
              <a:buNone/>
            </a:pPr>
            <a:r>
              <a:rPr lang="en-US" sz="1400" b="1" dirty="0">
                <a:solidFill>
                  <a:schemeClr val="accent1"/>
                </a:solidFill>
              </a:rPr>
              <a:t>[1] </a:t>
            </a:r>
            <a:r>
              <a:rPr lang="en-US" sz="1400" dirty="0">
                <a:solidFill>
                  <a:schemeClr val="tx1"/>
                </a:solidFill>
              </a:rPr>
              <a:t>Q. Zhang, Y. Chen, Z. Yang. Data Driven Solutions and Discoveries in Mechanics Using Physics Informed Neural Network. Stanford CS229 final report. (assigned paper)</a:t>
            </a:r>
            <a:endParaRPr lang="en-US" sz="1400" dirty="0"/>
          </a:p>
          <a:p>
            <a:pPr marL="0" indent="0">
              <a:buNone/>
            </a:pPr>
            <a:r>
              <a:rPr lang="en-US" sz="1400" b="1" dirty="0">
                <a:solidFill>
                  <a:schemeClr val="accent1"/>
                </a:solidFill>
              </a:rPr>
              <a:t>[2] </a:t>
            </a:r>
            <a:r>
              <a:rPr lang="en-US" sz="1400" dirty="0">
                <a:solidFill>
                  <a:schemeClr val="tx1"/>
                </a:solidFill>
              </a:rPr>
              <a:t>M. Raissi, P. Perdikaris, G. E. Karniadakis. Physics-informed neural networks: a deep learning framework for solving forward and inverse problems involving nonlinear PDEs. J. Comput. Phys. 378 (2019) 686–707.</a:t>
            </a:r>
            <a:endParaRPr lang="en-US" sz="1400" dirty="0"/>
          </a:p>
          <a:p>
            <a:pPr marL="0" indent="0">
              <a:buNone/>
            </a:pPr>
            <a:r>
              <a:rPr lang="en-US" sz="1400" b="1" dirty="0">
                <a:solidFill>
                  <a:schemeClr val="accent1"/>
                </a:solidFill>
              </a:rPr>
              <a:t>[3] </a:t>
            </a:r>
            <a:r>
              <a:rPr lang="en-US" sz="1400" dirty="0">
                <a:solidFill>
                  <a:schemeClr val="tx1"/>
                </a:solidFill>
              </a:rPr>
              <a:t>L. Lu, X. Meng, Z. Mao, G. E. Karniadakis. DeepXDE: a deep learning library for solving differential equations. arXiv:1907.04502 (2019). (source of RAR; ref. [24] of [1])</a:t>
            </a:r>
            <a:endParaRPr lang="en-US" sz="1400" dirty="0"/>
          </a:p>
          <a:p>
            <a:pPr marL="0" indent="0">
              <a:buNone/>
            </a:pPr>
            <a:r>
              <a:rPr lang="en-US" sz="1400" b="1" dirty="0">
                <a:solidFill>
                  <a:schemeClr val="accent1"/>
                </a:solidFill>
              </a:rPr>
              <a:t>[4] </a:t>
            </a:r>
            <a:r>
              <a:rPr lang="en-US" sz="1400" dirty="0">
                <a:solidFill>
                  <a:schemeClr val="tx1"/>
                </a:solidFill>
              </a:rPr>
              <a:t>J. Berg, K. Nyström. A unified deep artificial neural network approach to partial differential equations in complex geometries. Neurocomputing 317 (2018). (distance-function idea; ref. [3] of [1])</a:t>
            </a:r>
            <a:endParaRPr lang="en-US" sz="1400" dirty="0"/>
          </a:p>
          <a:p>
            <a:pPr marL="0" indent="0">
              <a:buNone/>
            </a:pPr>
            <a:r>
              <a:rPr lang="en-US" sz="1400" b="1" dirty="0">
                <a:solidFill>
                  <a:schemeClr val="accent1"/>
                </a:solidFill>
              </a:rPr>
              <a:t>[5] </a:t>
            </a:r>
            <a:r>
              <a:rPr lang="en-US" sz="1400" dirty="0">
                <a:solidFill>
                  <a:schemeClr val="tx1"/>
                </a:solidFill>
              </a:rPr>
              <a:t>D. P. Kingma, J. Ba. Adam: a method for stochastic optimization. arXiv:1412.6980 (2014).</a:t>
            </a:r>
            <a:endParaRPr lang="en-US" sz="1400" dirty="0"/>
          </a:p>
          <a:p>
            <a:pPr marL="0" indent="0">
              <a:buNone/>
            </a:pPr>
            <a:r>
              <a:rPr lang="en-US" sz="1400" b="1" dirty="0">
                <a:solidFill>
                  <a:schemeClr val="accent1"/>
                </a:solidFill>
              </a:rPr>
              <a:t>[6] </a:t>
            </a:r>
            <a:r>
              <a:rPr lang="en-US" sz="1400" dirty="0">
                <a:solidFill>
                  <a:schemeClr val="tx1"/>
                </a:solidFill>
              </a:rPr>
              <a:t>R. H. Byrd, P. Lu, J. Nocedal, C. Zhu. A limited memory algorithm for bound constrained optimization. SIAM J. Sci. Comput. 16 (1995) 1190–1208.</a:t>
            </a:r>
            <a:endParaRPr lang="en-US" sz="1400" dirty="0"/>
          </a:p>
          <a:p>
            <a:pPr marL="0" indent="0">
              <a:buNone/>
            </a:pPr>
            <a:r>
              <a:rPr lang="en-US" sz="1400" b="1" dirty="0">
                <a:solidFill>
                  <a:schemeClr val="accent1"/>
                </a:solidFill>
              </a:rPr>
              <a:t>[7] </a:t>
            </a:r>
            <a:r>
              <a:rPr lang="en-US" sz="1400" dirty="0">
                <a:solidFill>
                  <a:schemeClr val="tx1"/>
                </a:solidFill>
              </a:rPr>
              <a:t>A. Paszke et al. PyTorch: an imperative style, high-performance deep learning library. NeurIPS 2019.</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457200" y="2011680"/>
            <a:ext cx="11274552" cy="1097280"/>
          </a:xfrm>
          <a:prstGeom prst="rect">
            <a:avLst/>
          </a:prstGeom>
          <a:noFill/>
          <a:ln/>
        </p:spPr>
        <p:txBody>
          <a:bodyPr wrap="square" lIns="0" tIns="0" rIns="0" bIns="0" rtlCol="0" anchor="ctr"/>
          <a:lstStyle/>
          <a:p>
            <a:pPr marL="0" indent="0" algn="ctr">
              <a:buNone/>
            </a:pPr>
            <a:r>
              <a:rPr lang="en-US" sz="5400" b="1" dirty="0">
                <a:solidFill>
                  <a:schemeClr val="tx1"/>
                </a:solidFill>
              </a:rPr>
              <a:t>Thank you</a:t>
            </a:r>
            <a:endParaRPr lang="en-US" sz="5400" dirty="0"/>
          </a:p>
        </p:txBody>
      </p:sp>
      <p:sp>
        <p:nvSpPr>
          <p:cNvPr id="4" name="Text 1"/>
          <p:cNvSpPr txBox="1"/>
          <p:nvPr/>
        </p:nvSpPr>
        <p:spPr>
          <a:xfrm>
            <a:off x="457200" y="3154680"/>
            <a:ext cx="11274552" cy="457200"/>
          </a:xfrm>
          <a:prstGeom prst="rect">
            <a:avLst/>
          </a:prstGeom>
          <a:noFill/>
          <a:ln/>
        </p:spPr>
        <p:txBody>
          <a:bodyPr wrap="square" lIns="0" tIns="0" rIns="0" bIns="0" rtlCol="0" anchor="ctr"/>
          <a:lstStyle/>
          <a:p>
            <a:pPr marL="0" indent="0" algn="ctr">
              <a:buNone/>
            </a:pPr>
            <a:r>
              <a:rPr lang="en-US" sz="2200" i="1" dirty="0">
                <a:solidFill>
                  <a:schemeClr val="accent1"/>
                </a:solidFill>
              </a:rPr>
              <a:t>Questions welcome</a:t>
            </a:r>
            <a:endParaRPr lang="en-US" sz="2200" dirty="0"/>
          </a:p>
        </p:txBody>
      </p:sp>
      <p:sp>
        <p:nvSpPr>
          <p:cNvPr id="5" name="Text 2"/>
          <p:cNvSpPr txBox="1"/>
          <p:nvPr/>
        </p:nvSpPr>
        <p:spPr>
          <a:xfrm>
            <a:off x="457200" y="4023360"/>
            <a:ext cx="11274552" cy="365760"/>
          </a:xfrm>
          <a:prstGeom prst="rect">
            <a:avLst/>
          </a:prstGeom>
          <a:noFill/>
          <a:ln/>
        </p:spPr>
        <p:txBody>
          <a:bodyPr wrap="square" lIns="0" tIns="0" rIns="0" bIns="0" rtlCol="0" anchor="ctr"/>
          <a:lstStyle/>
          <a:p>
            <a:pPr marL="0" indent="0" algn="ctr">
              <a:buNone/>
            </a:pPr>
            <a:r>
              <a:rPr lang="en-US" sz="1700" b="1" dirty="0">
                <a:solidFill>
                  <a:schemeClr val="tx1"/>
                </a:solidFill>
              </a:rPr>
              <a:t>Faculty: </a:t>
            </a:r>
            <a:r>
              <a:rPr lang="en-US" sz="1700" dirty="0">
                <a:solidFill>
                  <a:schemeClr val="tx1"/>
                </a:solidFill>
              </a:rPr>
              <a:t>______________________</a:t>
            </a:r>
            <a:endParaRPr lang="en-US" sz="1700" dirty="0"/>
          </a:p>
        </p:txBody>
      </p:sp>
      <p:sp>
        <p:nvSpPr>
          <p:cNvPr id="6" name="Text 3"/>
          <p:cNvSpPr txBox="1"/>
          <p:nvPr/>
        </p:nvSpPr>
        <p:spPr>
          <a:xfrm>
            <a:off x="457200" y="4434840"/>
            <a:ext cx="11274552" cy="365760"/>
          </a:xfrm>
          <a:prstGeom prst="rect">
            <a:avLst/>
          </a:prstGeom>
          <a:noFill/>
          <a:ln/>
        </p:spPr>
        <p:txBody>
          <a:bodyPr wrap="square" lIns="0" tIns="0" rIns="0" bIns="0" rtlCol="0" anchor="ctr"/>
          <a:lstStyle/>
          <a:p>
            <a:pPr marL="0" indent="0" algn="ctr">
              <a:buNone/>
            </a:pPr>
            <a:r>
              <a:rPr lang="en-US" sz="1700" b="1" dirty="0"/>
              <a:t>_____________________</a:t>
            </a:r>
            <a:r>
              <a:rPr lang="en-US" sz="1700" b="1" dirty="0">
                <a:solidFill>
                  <a:schemeClr val="tx1"/>
                </a:solidFill>
              </a:rPr>
              <a:t> ·  ______________________</a:t>
            </a:r>
            <a:endParaRPr lang="en-US" sz="1700" dirty="0"/>
          </a:p>
        </p:txBody>
      </p:sp>
      <p:sp>
        <p:nvSpPr>
          <p:cNvPr id="7" name="Text 4"/>
          <p:cNvSpPr txBox="1"/>
          <p:nvPr/>
        </p:nvSpPr>
        <p:spPr>
          <a:xfrm>
            <a:off x="457200" y="4846320"/>
            <a:ext cx="11274552" cy="320040"/>
          </a:xfrm>
          <a:prstGeom prst="rect">
            <a:avLst/>
          </a:prstGeom>
          <a:noFill/>
          <a:ln/>
        </p:spPr>
        <p:txBody>
          <a:bodyPr wrap="square" lIns="0" tIns="0" rIns="0" bIns="0" rtlCol="0" anchor="ctr"/>
          <a:lstStyle/>
          <a:p>
            <a:pPr marL="0" indent="0" algn="ctr">
              <a:buNone/>
            </a:pPr>
            <a:r>
              <a:rPr lang="en-US" sz="1400" dirty="0">
                <a:solidFill>
                  <a:schemeClr val="accent4"/>
                </a:solidFill>
              </a:rPr>
              <a:t>PES University, Electronic City Campus, Bengaluru</a:t>
            </a:r>
            <a:endParaRPr lang="en-US" sz="1400" dirty="0"/>
          </a:p>
        </p:txBody>
      </p:sp>
      <p:sp>
        <p:nvSpPr>
          <p:cNvPr id="25" name="Slide Number Placeholder 0"/>
          <p:cNvSpPr>
            <a:spLocks noGrp="1"/>
          </p:cNvSpPr>
          <p:nvPr>
            <p:ph type="sldNum" sz="quarter" idx="4294967295"/>
          </p:nvPr>
        </p:nvSpPr>
        <p:spPr>
          <a:xfrm>
            <a:off x="11475720" y="6565392"/>
            <a:ext cx="457200" cy="237744"/>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1"/>
              <a:t>16</a:t>
            </a:fld>
            <a:endParaRPr lang="en-US"/>
          </a:p>
        </p:txBody>
      </p:sp>
    </p:spTree>
  </p:cSld>
  <p:clrMapOvr>
    <a:masterClrMapping/>
  </p:clrMapOvr>
</p:sld>
</file>

<file path=ppt/theme/theme1.xml><?xml version="1.0" encoding="utf-8"?>
<a:theme xmlns:a="http://schemas.openxmlformats.org/drawingml/2006/main" name="PES Capstone">
  <a:themeElements>
    <a:clrScheme name="PES Capstone">
      <a:dk1>
        <a:srgbClr val="0D1B2A"/>
      </a:dk1>
      <a:lt1>
        <a:srgbClr val="FFFFFF"/>
      </a:lt1>
      <a:dk2>
        <a:srgbClr val="004AAD"/>
      </a:dk2>
      <a:lt2>
        <a:srgbClr val="EEF4FA"/>
      </a:lt2>
      <a:accent1>
        <a:srgbClr val="004AAD"/>
      </a:accent1>
      <a:accent2>
        <a:srgbClr val="1E7A46"/>
      </a:accent2>
      <a:accent3>
        <a:srgbClr val="B3372F"/>
      </a:accent3>
      <a:accent4>
        <a:srgbClr val="5A6B7B"/>
      </a:accent4>
      <a:accent5>
        <a:srgbClr val="D6DEE6"/>
      </a:accent5>
      <a:accent6>
        <a:srgbClr val="F6F9FC"/>
      </a:accent6>
      <a:hlink>
        <a:srgbClr val="004AAD"/>
      </a:hlink>
      <a:folHlink>
        <a:srgbClr val="5A6B7B"/>
      </a:folHlink>
    </a:clrScheme>
    <a:fontScheme name="PES Capsto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4968</Words>
  <Application>Microsoft Office PowerPoint</Application>
  <PresentationFormat>Widescreen</PresentationFormat>
  <Paragraphs>329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PES Capstone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PINNs for Mechanics: Reproduction and Targeted Improvements</dc:title>
  <dc:subject>UE24CS352A Machine Learning Mini-Project, Problem 13</dc:subject>
  <dc:creator>Team (Problem 13)</dc:creator>
  <cp:lastModifiedBy>Abhay Kora</cp:lastModifiedBy>
  <cp:revision>3</cp:revision>
  <dcterms:created xsi:type="dcterms:W3CDTF">2026-10-07T03:19:04Z</dcterms:created>
  <dcterms:modified xsi:type="dcterms:W3CDTF">2026-10-08T14:14:49Z</dcterms:modified>
</cp:coreProperties>
</file>